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7569200" cy="10706100"/>
  <p:notesSz cx="7569200" cy="10706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8891"/>
            <a:ext cx="6433820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F9FAFA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5416"/>
            <a:ext cx="529844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F9FAFA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F9FAFA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62403"/>
            <a:ext cx="3292602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62403"/>
            <a:ext cx="3292602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F9FAFA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7568565" cy="10704830"/>
          </a:xfrm>
          <a:custGeom>
            <a:avLst/>
            <a:gdLst/>
            <a:ahLst/>
            <a:cxnLst/>
            <a:rect l="l" t="t" r="r" b="b"/>
            <a:pathLst>
              <a:path w="7568565" h="10704830">
                <a:moveTo>
                  <a:pt x="7568183" y="10704575"/>
                </a:moveTo>
                <a:lnTo>
                  <a:pt x="0" y="10704575"/>
                </a:lnTo>
                <a:lnTo>
                  <a:pt x="0" y="0"/>
                </a:lnTo>
                <a:lnTo>
                  <a:pt x="7568183" y="0"/>
                </a:lnTo>
                <a:lnTo>
                  <a:pt x="7568183" y="10704575"/>
                </a:lnTo>
                <a:close/>
              </a:path>
            </a:pathLst>
          </a:custGeom>
          <a:solidFill>
            <a:srgbClr val="090D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568565" cy="10704830"/>
          </a:xfrm>
          <a:custGeom>
            <a:avLst/>
            <a:gdLst/>
            <a:ahLst/>
            <a:cxnLst/>
            <a:rect l="l" t="t" r="r" b="b"/>
            <a:pathLst>
              <a:path w="7568565" h="10704830">
                <a:moveTo>
                  <a:pt x="7568183" y="10704575"/>
                </a:moveTo>
                <a:lnTo>
                  <a:pt x="0" y="10704575"/>
                </a:lnTo>
                <a:lnTo>
                  <a:pt x="0" y="0"/>
                </a:lnTo>
                <a:lnTo>
                  <a:pt x="7568183" y="0"/>
                </a:lnTo>
                <a:lnTo>
                  <a:pt x="7568183" y="10704575"/>
                </a:lnTo>
                <a:close/>
              </a:path>
            </a:pathLst>
          </a:custGeom>
          <a:solidFill>
            <a:srgbClr val="090D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534274" y="0"/>
            <a:ext cx="34290" cy="10704830"/>
          </a:xfrm>
          <a:custGeom>
            <a:avLst/>
            <a:gdLst/>
            <a:ahLst/>
            <a:cxnLst/>
            <a:rect l="l" t="t" r="r" b="b"/>
            <a:pathLst>
              <a:path w="34290" h="10704830">
                <a:moveTo>
                  <a:pt x="0" y="10704578"/>
                </a:moveTo>
                <a:lnTo>
                  <a:pt x="0" y="0"/>
                </a:lnTo>
                <a:lnTo>
                  <a:pt x="33909" y="0"/>
                </a:lnTo>
                <a:lnTo>
                  <a:pt x="33909" y="10704578"/>
                </a:lnTo>
                <a:lnTo>
                  <a:pt x="0" y="10704578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-2"/>
            <a:ext cx="38100" cy="10706100"/>
          </a:xfrm>
          <a:custGeom>
            <a:avLst/>
            <a:gdLst/>
            <a:ahLst/>
            <a:cxnLst/>
            <a:rect l="l" t="t" r="r" b="b"/>
            <a:pathLst>
              <a:path w="38100" h="10706100">
                <a:moveTo>
                  <a:pt x="38099" y="10706099"/>
                </a:moveTo>
                <a:lnTo>
                  <a:pt x="0" y="10706099"/>
                </a:lnTo>
                <a:lnTo>
                  <a:pt x="0" y="0"/>
                </a:lnTo>
                <a:lnTo>
                  <a:pt x="38099" y="0"/>
                </a:lnTo>
                <a:lnTo>
                  <a:pt x="38099" y="10706099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674" y="875044"/>
            <a:ext cx="4352290" cy="412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F9FAFA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62403"/>
            <a:ext cx="681228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56673"/>
            <a:ext cx="2422144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56673"/>
            <a:ext cx="174091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56673"/>
            <a:ext cx="1740916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99" y="0"/>
            <a:ext cx="380999" cy="38099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534274" y="0"/>
            <a:ext cx="34290" cy="10704830"/>
          </a:xfrm>
          <a:custGeom>
            <a:avLst/>
            <a:gdLst/>
            <a:ahLst/>
            <a:cxnLst/>
            <a:rect l="l" t="t" r="r" b="b"/>
            <a:pathLst>
              <a:path w="34290" h="10704830">
                <a:moveTo>
                  <a:pt x="0" y="10704575"/>
                </a:moveTo>
                <a:lnTo>
                  <a:pt x="0" y="0"/>
                </a:lnTo>
                <a:lnTo>
                  <a:pt x="33909" y="0"/>
                </a:lnTo>
                <a:lnTo>
                  <a:pt x="33909" y="10704575"/>
                </a:lnTo>
                <a:lnTo>
                  <a:pt x="0" y="10704575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0"/>
            <a:ext cx="38100" cy="10706100"/>
          </a:xfrm>
          <a:custGeom>
            <a:avLst/>
            <a:gdLst/>
            <a:ahLst/>
            <a:cxnLst/>
            <a:rect l="l" t="t" r="r" b="b"/>
            <a:pathLst>
              <a:path w="38100" h="10706100">
                <a:moveTo>
                  <a:pt x="38099" y="10706099"/>
                </a:moveTo>
                <a:lnTo>
                  <a:pt x="0" y="10706099"/>
                </a:lnTo>
                <a:lnTo>
                  <a:pt x="0" y="0"/>
                </a:lnTo>
                <a:lnTo>
                  <a:pt x="38099" y="0"/>
                </a:lnTo>
                <a:lnTo>
                  <a:pt x="38099" y="10706099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19099" y="381000"/>
            <a:ext cx="6734175" cy="10325100"/>
            <a:chOff x="419099" y="381000"/>
            <a:chExt cx="6734175" cy="10325100"/>
          </a:xfrm>
        </p:grpSpPr>
        <p:sp>
          <p:nvSpPr>
            <p:cNvPr id="6" name="object 6" descr=""/>
            <p:cNvSpPr/>
            <p:nvPr/>
          </p:nvSpPr>
          <p:spPr>
            <a:xfrm>
              <a:off x="419099" y="381000"/>
              <a:ext cx="6734175" cy="10325100"/>
            </a:xfrm>
            <a:custGeom>
              <a:avLst/>
              <a:gdLst/>
              <a:ahLst/>
              <a:cxnLst/>
              <a:rect l="l" t="t" r="r" b="b"/>
              <a:pathLst>
                <a:path w="6734175" h="10325100">
                  <a:moveTo>
                    <a:pt x="6734174" y="10325099"/>
                  </a:moveTo>
                  <a:lnTo>
                    <a:pt x="0" y="10325099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10325099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9087" y="380999"/>
              <a:ext cx="6734175" cy="10325100"/>
            </a:xfrm>
            <a:custGeom>
              <a:avLst/>
              <a:gdLst/>
              <a:ahLst/>
              <a:cxnLst/>
              <a:rect l="l" t="t" r="r" b="b"/>
              <a:pathLst>
                <a:path w="6734175" h="10325100">
                  <a:moveTo>
                    <a:pt x="6734175" y="0"/>
                  </a:moveTo>
                  <a:lnTo>
                    <a:pt x="6724650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0" y="10325087"/>
                  </a:lnTo>
                  <a:lnTo>
                    <a:pt x="9525" y="10325087"/>
                  </a:lnTo>
                  <a:lnTo>
                    <a:pt x="9525" y="9525"/>
                  </a:lnTo>
                  <a:lnTo>
                    <a:pt x="6724650" y="9525"/>
                  </a:lnTo>
                  <a:lnTo>
                    <a:pt x="6724650" y="10325087"/>
                  </a:lnTo>
                  <a:lnTo>
                    <a:pt x="6734175" y="10325087"/>
                  </a:lnTo>
                  <a:lnTo>
                    <a:pt x="6734175" y="9525"/>
                  </a:lnTo>
                  <a:lnTo>
                    <a:pt x="6734175" y="0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14374" y="981074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14374" y="7153274"/>
              <a:ext cx="6143625" cy="3152775"/>
            </a:xfrm>
            <a:custGeom>
              <a:avLst/>
              <a:gdLst/>
              <a:ahLst/>
              <a:cxnLst/>
              <a:rect l="l" t="t" r="r" b="b"/>
              <a:pathLst>
                <a:path w="6143625" h="3152775">
                  <a:moveTo>
                    <a:pt x="6143624" y="3152774"/>
                  </a:moveTo>
                  <a:lnTo>
                    <a:pt x="0" y="315277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3152774"/>
                  </a:lnTo>
                  <a:close/>
                </a:path>
              </a:pathLst>
            </a:custGeom>
            <a:solidFill>
              <a:srgbClr val="FFFFFF">
                <a:alpha val="195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4399" y="7839074"/>
              <a:ext cx="5743575" cy="9525"/>
            </a:xfrm>
            <a:custGeom>
              <a:avLst/>
              <a:gdLst/>
              <a:ahLst/>
              <a:cxnLst/>
              <a:rect l="l" t="t" r="r" b="b"/>
              <a:pathLst>
                <a:path w="5743575" h="9525">
                  <a:moveTo>
                    <a:pt x="57435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743574" y="0"/>
                  </a:lnTo>
                  <a:lnTo>
                    <a:pt x="574357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01674" y="669290"/>
            <a:ext cx="12839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SYS: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TRIDENT-</a:t>
            </a:r>
            <a:r>
              <a:rPr dirty="0" sz="1050" spc="-20">
                <a:solidFill>
                  <a:srgbClr val="EF4444"/>
                </a:solidFill>
                <a:latin typeface="Consolas"/>
                <a:cs typeface="Consolas"/>
              </a:rPr>
              <a:t>V1.0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132657" y="669290"/>
            <a:ext cx="202438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COORDS: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26.4499°N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80.3319°E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03910" y="669290"/>
            <a:ext cx="121031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ENC: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AES-256-</a:t>
            </a:r>
            <a:r>
              <a:rPr dirty="0" sz="1050" spc="-25">
                <a:solidFill>
                  <a:srgbClr val="EF4444"/>
                </a:solidFill>
                <a:latin typeface="Consolas"/>
                <a:cs typeface="Consolas"/>
              </a:rPr>
              <a:t>GCM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660925" y="669290"/>
            <a:ext cx="121031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DATE:</a:t>
            </a:r>
            <a:r>
              <a:rPr dirty="0" sz="1050" spc="10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07.02.2026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138015" y="1749425"/>
            <a:ext cx="324929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565" algn="l"/>
                <a:tab pos="695325" algn="l"/>
                <a:tab pos="1592580" algn="l"/>
                <a:tab pos="1917064" algn="l"/>
                <a:tab pos="2546350" algn="l"/>
                <a:tab pos="3186430" algn="l"/>
              </a:tabLst>
            </a:pPr>
            <a:r>
              <a:rPr dirty="0" sz="1350" spc="-50">
                <a:solidFill>
                  <a:srgbClr val="EF4444"/>
                </a:solidFill>
                <a:latin typeface="Trebuchet MS"/>
                <a:cs typeface="Trebuchet MS"/>
              </a:rPr>
              <a:t>[</a:t>
            </a:r>
            <a:r>
              <a:rPr dirty="0" sz="1350">
                <a:solidFill>
                  <a:srgbClr val="EF4444"/>
                </a:solidFill>
                <a:latin typeface="Trebuchet MS"/>
                <a:cs typeface="Trebuchet MS"/>
              </a:rPr>
              <a:t>	</a:t>
            </a:r>
            <a:r>
              <a:rPr dirty="0" sz="1350" spc="-229">
                <a:solidFill>
                  <a:srgbClr val="EF4444"/>
                </a:solidFill>
                <a:latin typeface="Trebuchet MS"/>
                <a:cs typeface="Trebuchet MS"/>
              </a:rPr>
              <a:t>T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180">
                <a:solidFill>
                  <a:srgbClr val="EF4444"/>
                </a:solidFill>
                <a:latin typeface="Trebuchet MS"/>
                <a:cs typeface="Trebuchet MS"/>
              </a:rPr>
              <a:t>O</a:t>
            </a:r>
            <a:r>
              <a:rPr dirty="0" sz="1350" spc="-25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F4444"/>
                </a:solidFill>
                <a:latin typeface="Trebuchet MS"/>
                <a:cs typeface="Trebuchet MS"/>
              </a:rPr>
              <a:t>P</a:t>
            </a:r>
            <a:r>
              <a:rPr dirty="0" sz="1350">
                <a:solidFill>
                  <a:srgbClr val="EF4444"/>
                </a:solidFill>
                <a:latin typeface="Trebuchet MS"/>
                <a:cs typeface="Trebuchet MS"/>
              </a:rPr>
              <a:t>	</a:t>
            </a:r>
            <a:r>
              <a:rPr dirty="0" sz="1350" spc="100">
                <a:solidFill>
                  <a:srgbClr val="EF4444"/>
                </a:solidFill>
                <a:latin typeface="Trebuchet MS"/>
                <a:cs typeface="Trebuchet MS"/>
              </a:rPr>
              <a:t>S</a:t>
            </a:r>
            <a:r>
              <a:rPr dirty="0" sz="1350" spc="-35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EF4444"/>
                </a:solidFill>
                <a:latin typeface="Trebuchet MS"/>
                <a:cs typeface="Trebuchet MS"/>
              </a:rPr>
              <a:t>E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90">
                <a:solidFill>
                  <a:srgbClr val="EF4444"/>
                </a:solidFill>
                <a:latin typeface="Trebuchet MS"/>
                <a:cs typeface="Trebuchet MS"/>
              </a:rPr>
              <a:t>C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EF4444"/>
                </a:solidFill>
                <a:latin typeface="Trebuchet MS"/>
                <a:cs typeface="Trebuchet MS"/>
              </a:rPr>
              <a:t>R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EF4444"/>
                </a:solidFill>
                <a:latin typeface="Trebuchet MS"/>
                <a:cs typeface="Trebuchet MS"/>
              </a:rPr>
              <a:t>E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F4444"/>
                </a:solidFill>
                <a:latin typeface="Trebuchet MS"/>
                <a:cs typeface="Trebuchet MS"/>
              </a:rPr>
              <a:t>T</a:t>
            </a:r>
            <a:r>
              <a:rPr dirty="0" sz="1350">
                <a:solidFill>
                  <a:srgbClr val="EF4444"/>
                </a:solidFill>
                <a:latin typeface="Trebuchet MS"/>
                <a:cs typeface="Trebuchet MS"/>
              </a:rPr>
              <a:t>	</a:t>
            </a:r>
            <a:r>
              <a:rPr dirty="0" sz="1350" spc="-185">
                <a:solidFill>
                  <a:srgbClr val="EF4444"/>
                </a:solidFill>
                <a:latin typeface="Trebuchet MS"/>
                <a:cs typeface="Trebuchet MS"/>
              </a:rPr>
              <a:t>/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F4444"/>
                </a:solidFill>
                <a:latin typeface="Trebuchet MS"/>
                <a:cs typeface="Trebuchet MS"/>
              </a:rPr>
              <a:t>/</a:t>
            </a:r>
            <a:r>
              <a:rPr dirty="0" sz="1350">
                <a:solidFill>
                  <a:srgbClr val="EF4444"/>
                </a:solidFill>
                <a:latin typeface="Trebuchet MS"/>
                <a:cs typeface="Trebuchet MS"/>
              </a:rPr>
              <a:t>	</a:t>
            </a:r>
            <a:r>
              <a:rPr dirty="0" sz="1350" spc="-80">
                <a:solidFill>
                  <a:srgbClr val="EF4444"/>
                </a:solidFill>
                <a:latin typeface="Trebuchet MS"/>
                <a:cs typeface="Trebuchet MS"/>
              </a:rPr>
              <a:t>E</a:t>
            </a:r>
            <a:r>
              <a:rPr dirty="0" sz="1350" spc="-35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125">
                <a:solidFill>
                  <a:srgbClr val="EF4444"/>
                </a:solidFill>
                <a:latin typeface="Trebuchet MS"/>
                <a:cs typeface="Trebuchet MS"/>
              </a:rPr>
              <a:t>Y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EF4444"/>
                </a:solidFill>
                <a:latin typeface="Trebuchet MS"/>
                <a:cs typeface="Trebuchet MS"/>
              </a:rPr>
              <a:t>E</a:t>
            </a:r>
            <a:r>
              <a:rPr dirty="0" sz="1350" spc="-35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50">
                <a:solidFill>
                  <a:srgbClr val="EF4444"/>
                </a:solidFill>
                <a:latin typeface="Trebuchet MS"/>
                <a:cs typeface="Trebuchet MS"/>
              </a:rPr>
              <a:t>S</a:t>
            </a:r>
            <a:r>
              <a:rPr dirty="0" sz="1350">
                <a:solidFill>
                  <a:srgbClr val="EF4444"/>
                </a:solidFill>
                <a:latin typeface="Trebuchet MS"/>
                <a:cs typeface="Trebuchet MS"/>
              </a:rPr>
              <a:t>	</a:t>
            </a:r>
            <a:r>
              <a:rPr dirty="0" sz="1350" spc="-180">
                <a:solidFill>
                  <a:srgbClr val="EF4444"/>
                </a:solidFill>
                <a:latin typeface="Trebuchet MS"/>
                <a:cs typeface="Trebuchet MS"/>
              </a:rPr>
              <a:t>O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95">
                <a:solidFill>
                  <a:srgbClr val="EF4444"/>
                </a:solidFill>
                <a:latin typeface="Trebuchet MS"/>
                <a:cs typeface="Trebuchet MS"/>
              </a:rPr>
              <a:t>N</a:t>
            </a:r>
            <a:r>
              <a:rPr dirty="0" sz="1350" spc="-25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90">
                <a:solidFill>
                  <a:srgbClr val="EF4444"/>
                </a:solidFill>
                <a:latin typeface="Trebuchet MS"/>
                <a:cs typeface="Trebuchet MS"/>
              </a:rPr>
              <a:t>L</a:t>
            </a:r>
            <a:r>
              <a:rPr dirty="0" sz="1350" spc="-30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350" spc="-50">
                <a:solidFill>
                  <a:srgbClr val="EF4444"/>
                </a:solidFill>
                <a:latin typeface="Trebuchet MS"/>
                <a:cs typeface="Trebuchet MS"/>
              </a:rPr>
              <a:t>Y</a:t>
            </a:r>
            <a:r>
              <a:rPr dirty="0" sz="1350">
                <a:solidFill>
                  <a:srgbClr val="EF4444"/>
                </a:solidFill>
                <a:latin typeface="Trebuchet MS"/>
                <a:cs typeface="Trebuchet MS"/>
              </a:rPr>
              <a:t>	</a:t>
            </a:r>
            <a:r>
              <a:rPr dirty="0" sz="1350" spc="-55">
                <a:solidFill>
                  <a:srgbClr val="EF4444"/>
                </a:solidFill>
                <a:latin typeface="Trebuchet MS"/>
                <a:cs typeface="Trebuchet MS"/>
              </a:rPr>
              <a:t>]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2188463" y="2526792"/>
            <a:ext cx="3194685" cy="826135"/>
          </a:xfrm>
          <a:custGeom>
            <a:avLst/>
            <a:gdLst/>
            <a:ahLst/>
            <a:cxnLst/>
            <a:rect l="l" t="t" r="r" b="b"/>
            <a:pathLst>
              <a:path w="3194685" h="826135">
                <a:moveTo>
                  <a:pt x="3194303" y="826007"/>
                </a:moveTo>
                <a:lnTo>
                  <a:pt x="0" y="826007"/>
                </a:lnTo>
                <a:lnTo>
                  <a:pt x="0" y="0"/>
                </a:lnTo>
                <a:lnTo>
                  <a:pt x="3194303" y="0"/>
                </a:lnTo>
                <a:lnTo>
                  <a:pt x="3194303" y="826007"/>
                </a:lnTo>
                <a:close/>
              </a:path>
            </a:pathLst>
          </a:custGeom>
          <a:solidFill>
            <a:srgbClr val="EF4444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2170175" y="2369402"/>
            <a:ext cx="3213100" cy="10191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dirty="0" sz="6500" spc="-80">
                <a:solidFill>
                  <a:srgbClr val="EF4444"/>
                </a:solidFill>
                <a:latin typeface="Consolas"/>
                <a:cs typeface="Consolas"/>
              </a:rPr>
              <a:t>PROJECT</a:t>
            </a:r>
            <a:endParaRPr sz="650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170175" y="3344941"/>
            <a:ext cx="3213100" cy="779145"/>
          </a:xfrm>
          <a:prstGeom prst="rect">
            <a:avLst/>
          </a:prstGeom>
          <a:solidFill>
            <a:srgbClr val="EF444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90805">
              <a:lnSpc>
                <a:spcPts val="6135"/>
              </a:lnSpc>
            </a:pPr>
            <a:r>
              <a:rPr dirty="0" sz="6500" spc="-80">
                <a:solidFill>
                  <a:srgbClr val="EF4444"/>
                </a:solidFill>
                <a:latin typeface="Consolas"/>
                <a:cs typeface="Consolas"/>
              </a:rPr>
              <a:t>TRIDENT</a:t>
            </a:r>
            <a:endParaRPr sz="6500">
              <a:latin typeface="Consolas"/>
              <a:cs typeface="Consola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16297" y="4292600"/>
            <a:ext cx="550164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4005" algn="l"/>
                <a:tab pos="991869" algn="l"/>
                <a:tab pos="2009775" algn="l"/>
                <a:tab pos="2443480" algn="l"/>
                <a:tab pos="3474720" algn="l"/>
                <a:tab pos="4492625" algn="l"/>
              </a:tabLst>
            </a:pPr>
            <a:r>
              <a:rPr dirty="0" sz="2000" spc="-50">
                <a:solidFill>
                  <a:srgbClr val="9CA2AF"/>
                </a:solidFill>
                <a:latin typeface="Trebuchet MS"/>
                <a:cs typeface="Trebuchet MS"/>
              </a:rPr>
              <a:t>A</a:t>
            </a:r>
            <a:r>
              <a:rPr dirty="0" sz="2000">
                <a:solidFill>
                  <a:srgbClr val="9CA2AF"/>
                </a:solidFill>
                <a:latin typeface="Trebuchet MS"/>
                <a:cs typeface="Trebuchet MS"/>
              </a:rPr>
              <a:t>	</a:t>
            </a:r>
            <a:r>
              <a:rPr dirty="0" sz="2000" spc="-120">
                <a:solidFill>
                  <a:srgbClr val="9CA2AF"/>
                </a:solidFill>
                <a:latin typeface="Trebuchet MS"/>
                <a:cs typeface="Trebuchet MS"/>
              </a:rPr>
              <a:t>N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9CA2AF"/>
                </a:solidFill>
                <a:latin typeface="Trebuchet MS"/>
                <a:cs typeface="Trebuchet MS"/>
              </a:rPr>
              <a:t>E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9CA2AF"/>
                </a:solidFill>
                <a:latin typeface="Trebuchet MS"/>
                <a:cs typeface="Trebuchet MS"/>
              </a:rPr>
              <a:t>W</a:t>
            </a:r>
            <a:r>
              <a:rPr dirty="0" sz="2000">
                <a:solidFill>
                  <a:srgbClr val="9CA2AF"/>
                </a:solidFill>
                <a:latin typeface="Trebuchet MS"/>
                <a:cs typeface="Trebuchet MS"/>
              </a:rPr>
              <a:t>	</a:t>
            </a:r>
            <a:r>
              <a:rPr dirty="0" sz="2000" spc="-170">
                <a:solidFill>
                  <a:srgbClr val="9CA2AF"/>
                </a:solidFill>
                <a:latin typeface="Trebuchet MS"/>
                <a:cs typeface="Trebuchet MS"/>
              </a:rPr>
              <a:t>V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10">
                <a:solidFill>
                  <a:srgbClr val="9CA2AF"/>
                </a:solidFill>
                <a:latin typeface="Trebuchet MS"/>
                <a:cs typeface="Trebuchet MS"/>
              </a:rPr>
              <a:t>I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170">
                <a:solidFill>
                  <a:srgbClr val="9CA2AF"/>
                </a:solidFill>
                <a:latin typeface="Trebuchet MS"/>
                <a:cs typeface="Trebuchet MS"/>
              </a:rPr>
              <a:t>S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10">
                <a:solidFill>
                  <a:srgbClr val="9CA2AF"/>
                </a:solidFill>
                <a:latin typeface="Trebuchet MS"/>
                <a:cs typeface="Trebuchet MS"/>
              </a:rPr>
              <a:t>I</a:t>
            </a:r>
            <a:r>
              <a:rPr dirty="0" sz="2000" spc="-29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250">
                <a:solidFill>
                  <a:srgbClr val="9CA2AF"/>
                </a:solidFill>
                <a:latin typeface="Trebuchet MS"/>
                <a:cs typeface="Trebuchet MS"/>
              </a:rPr>
              <a:t>O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9CA2AF"/>
                </a:solidFill>
                <a:latin typeface="Trebuchet MS"/>
                <a:cs typeface="Trebuchet MS"/>
              </a:rPr>
              <a:t>N</a:t>
            </a:r>
            <a:r>
              <a:rPr dirty="0" sz="2000">
                <a:solidFill>
                  <a:srgbClr val="9CA2AF"/>
                </a:solidFill>
                <a:latin typeface="Trebuchet MS"/>
                <a:cs typeface="Trebuchet MS"/>
              </a:rPr>
              <a:t>	</a:t>
            </a:r>
            <a:r>
              <a:rPr dirty="0" sz="2000" spc="-315">
                <a:solidFill>
                  <a:srgbClr val="9CA2AF"/>
                </a:solidFill>
                <a:latin typeface="Trebuchet MS"/>
                <a:cs typeface="Trebuchet MS"/>
              </a:rPr>
              <a:t>T</a:t>
            </a:r>
            <a:r>
              <a:rPr dirty="0" sz="2000" spc="-30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9CA2AF"/>
                </a:solidFill>
                <a:latin typeface="Trebuchet MS"/>
                <a:cs typeface="Trebuchet MS"/>
              </a:rPr>
              <a:t>O</a:t>
            </a:r>
            <a:r>
              <a:rPr dirty="0" sz="2000">
                <a:solidFill>
                  <a:srgbClr val="9CA2AF"/>
                </a:solidFill>
                <a:latin typeface="Trebuchet MS"/>
                <a:cs typeface="Trebuchet MS"/>
              </a:rPr>
              <a:t>	</a:t>
            </a:r>
            <a:r>
              <a:rPr dirty="0" sz="2000" spc="-110">
                <a:solidFill>
                  <a:srgbClr val="9CA2AF"/>
                </a:solidFill>
                <a:latin typeface="Trebuchet MS"/>
                <a:cs typeface="Trebuchet MS"/>
              </a:rPr>
              <a:t>I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20">
                <a:solidFill>
                  <a:srgbClr val="9CA2AF"/>
                </a:solidFill>
                <a:latin typeface="Trebuchet MS"/>
                <a:cs typeface="Trebuchet MS"/>
              </a:rPr>
              <a:t>N</a:t>
            </a:r>
            <a:r>
              <a:rPr dirty="0" sz="2000" spc="-29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05">
                <a:solidFill>
                  <a:srgbClr val="9CA2AF"/>
                </a:solidFill>
                <a:latin typeface="Trebuchet MS"/>
                <a:cs typeface="Trebuchet MS"/>
              </a:rPr>
              <a:t>D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10">
                <a:solidFill>
                  <a:srgbClr val="9CA2AF"/>
                </a:solidFill>
                <a:latin typeface="Trebuchet MS"/>
                <a:cs typeface="Trebuchet MS"/>
              </a:rPr>
              <a:t>I</a:t>
            </a:r>
            <a:r>
              <a:rPr dirty="0" sz="2000" spc="-29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9CA2AF"/>
                </a:solidFill>
                <a:latin typeface="Trebuchet MS"/>
                <a:cs typeface="Trebuchet MS"/>
              </a:rPr>
              <a:t>A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9CA2AF"/>
                </a:solidFill>
                <a:latin typeface="Trebuchet MS"/>
                <a:cs typeface="Trebuchet MS"/>
              </a:rPr>
              <a:t>N</a:t>
            </a:r>
            <a:r>
              <a:rPr dirty="0" sz="2000">
                <a:solidFill>
                  <a:srgbClr val="9CA2AF"/>
                </a:solidFill>
                <a:latin typeface="Trebuchet MS"/>
                <a:cs typeface="Trebuchet MS"/>
              </a:rPr>
              <a:t>	</a:t>
            </a:r>
            <a:r>
              <a:rPr dirty="0" sz="2000" spc="-114">
                <a:solidFill>
                  <a:srgbClr val="9CA2AF"/>
                </a:solidFill>
                <a:latin typeface="Trebuchet MS"/>
                <a:cs typeface="Trebuchet MS"/>
              </a:rPr>
              <a:t>A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90">
                <a:solidFill>
                  <a:srgbClr val="9CA2AF"/>
                </a:solidFill>
                <a:latin typeface="Trebuchet MS"/>
                <a:cs typeface="Trebuchet MS"/>
              </a:rPr>
              <a:t>R</a:t>
            </a:r>
            <a:r>
              <a:rPr dirty="0" sz="2000" spc="-29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35">
                <a:solidFill>
                  <a:srgbClr val="9CA2AF"/>
                </a:solidFill>
                <a:latin typeface="Trebuchet MS"/>
                <a:cs typeface="Trebuchet MS"/>
              </a:rPr>
              <a:t>M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9CA2AF"/>
                </a:solidFill>
                <a:latin typeface="Trebuchet MS"/>
                <a:cs typeface="Trebuchet MS"/>
              </a:rPr>
              <a:t>E</a:t>
            </a:r>
            <a:r>
              <a:rPr dirty="0" sz="2000" spc="-29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9CA2AF"/>
                </a:solidFill>
                <a:latin typeface="Trebuchet MS"/>
                <a:cs typeface="Trebuchet MS"/>
              </a:rPr>
              <a:t>D</a:t>
            </a:r>
            <a:r>
              <a:rPr dirty="0" sz="2000">
                <a:solidFill>
                  <a:srgbClr val="9CA2AF"/>
                </a:solidFill>
                <a:latin typeface="Trebuchet MS"/>
                <a:cs typeface="Trebuchet MS"/>
              </a:rPr>
              <a:t>	</a:t>
            </a:r>
            <a:r>
              <a:rPr dirty="0" sz="2000" spc="-135">
                <a:solidFill>
                  <a:srgbClr val="9CA2AF"/>
                </a:solidFill>
                <a:latin typeface="Trebuchet MS"/>
                <a:cs typeface="Trebuchet MS"/>
              </a:rPr>
              <a:t>F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250">
                <a:solidFill>
                  <a:srgbClr val="9CA2AF"/>
                </a:solidFill>
                <a:latin typeface="Trebuchet MS"/>
                <a:cs typeface="Trebuchet MS"/>
              </a:rPr>
              <a:t>O</a:t>
            </a:r>
            <a:r>
              <a:rPr dirty="0" sz="2000" spc="-29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90">
                <a:solidFill>
                  <a:srgbClr val="9CA2AF"/>
                </a:solidFill>
                <a:latin typeface="Trebuchet MS"/>
                <a:cs typeface="Trebuchet MS"/>
              </a:rPr>
              <a:t>R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9CA2AF"/>
                </a:solidFill>
                <a:latin typeface="Trebuchet MS"/>
                <a:cs typeface="Trebuchet MS"/>
              </a:rPr>
              <a:t>C</a:t>
            </a:r>
            <a:r>
              <a:rPr dirty="0" sz="2000" spc="-29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-114">
                <a:solidFill>
                  <a:srgbClr val="9CA2AF"/>
                </a:solidFill>
                <a:latin typeface="Trebuchet MS"/>
                <a:cs typeface="Trebuchet MS"/>
              </a:rPr>
              <a:t>E</a:t>
            </a:r>
            <a:r>
              <a:rPr dirty="0" sz="2000" spc="-30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9CA2AF"/>
                </a:solidFill>
                <a:latin typeface="Trebuchet MS"/>
                <a:cs typeface="Trebuchet MS"/>
              </a:rPr>
              <a:t>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28624" y="390525"/>
            <a:ext cx="4133850" cy="5629275"/>
            <a:chOff x="428624" y="390525"/>
            <a:chExt cx="4133850" cy="5629275"/>
          </a:xfrm>
        </p:grpSpPr>
        <p:sp>
          <p:nvSpPr>
            <p:cNvPr id="21" name="object 21" descr=""/>
            <p:cNvSpPr/>
            <p:nvPr/>
          </p:nvSpPr>
          <p:spPr>
            <a:xfrm>
              <a:off x="3028949" y="5438774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761999" y="0"/>
                  </a:moveTo>
                  <a:lnTo>
                    <a:pt x="1523999" y="571499"/>
                  </a:lnTo>
                  <a:lnTo>
                    <a:pt x="0" y="571499"/>
                  </a:lnTo>
                  <a:lnTo>
                    <a:pt x="761999" y="0"/>
                  </a:lnTo>
                  <a:close/>
                </a:path>
              </a:pathLst>
            </a:custGeom>
            <a:ln w="19049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648074" y="5676899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400" y="279599"/>
                  </a:lnTo>
                  <a:lnTo>
                    <a:pt x="63497" y="261671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1" y="57757"/>
                  </a:lnTo>
                  <a:lnTo>
                    <a:pt x="57757" y="28121"/>
                  </a:lnTo>
                  <a:lnTo>
                    <a:pt x="94749" y="8348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8"/>
                  </a:lnTo>
                  <a:lnTo>
                    <a:pt x="227992" y="28121"/>
                  </a:lnTo>
                  <a:lnTo>
                    <a:pt x="257628" y="57757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4"/>
                  </a:lnTo>
                  <a:lnTo>
                    <a:pt x="277401" y="191000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028949" y="5724524"/>
              <a:ext cx="1476375" cy="0"/>
            </a:xfrm>
            <a:custGeom>
              <a:avLst/>
              <a:gdLst/>
              <a:ahLst/>
              <a:cxnLst/>
              <a:rect l="l" t="t" r="r" b="b"/>
              <a:pathLst>
                <a:path w="1476375" h="0">
                  <a:moveTo>
                    <a:pt x="0" y="0"/>
                  </a:moveTo>
                  <a:lnTo>
                    <a:pt x="1476374" y="0"/>
                  </a:lnTo>
                </a:path>
              </a:pathLst>
            </a:custGeom>
            <a:ln w="9524">
              <a:solidFill>
                <a:srgbClr val="EF4444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790949" y="5438774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w="0" h="571500">
                  <a:moveTo>
                    <a:pt x="0" y="0"/>
                  </a:moveTo>
                  <a:lnTo>
                    <a:pt x="0" y="571499"/>
                  </a:lnTo>
                </a:path>
              </a:pathLst>
            </a:custGeom>
            <a:ln w="9524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28612" y="39052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190500"/>
                  </a:lnTo>
                  <a:lnTo>
                    <a:pt x="19050" y="190500"/>
                  </a:lnTo>
                  <a:lnTo>
                    <a:pt x="19050" y="19050"/>
                  </a:lnTo>
                  <a:lnTo>
                    <a:pt x="190500" y="190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19137" y="7158036"/>
            <a:ext cx="6134100" cy="3143250"/>
          </a:xfrm>
          <a:prstGeom prst="rect">
            <a:avLst/>
          </a:prstGeom>
          <a:ln w="9524">
            <a:solidFill>
              <a:srgbClr val="374050"/>
            </a:solidFill>
          </a:ln>
        </p:spPr>
        <p:txBody>
          <a:bodyPr wrap="square" lIns="0" tIns="188595" rIns="0" bIns="0" rtlCol="0" vert="horz">
            <a:spAutoFit/>
          </a:bodyPr>
          <a:lstStyle/>
          <a:p>
            <a:pPr marL="194945">
              <a:lnSpc>
                <a:spcPct val="100000"/>
              </a:lnSpc>
              <a:spcBef>
                <a:spcPts val="1485"/>
              </a:spcBef>
            </a:pPr>
            <a:r>
              <a:rPr dirty="0" sz="2150">
                <a:solidFill>
                  <a:srgbClr val="F9FAFA"/>
                </a:solidFill>
                <a:latin typeface="Consolas"/>
                <a:cs typeface="Consolas"/>
              </a:rPr>
              <a:t>MISSION</a:t>
            </a:r>
            <a:r>
              <a:rPr dirty="0" sz="2150" spc="445">
                <a:solidFill>
                  <a:srgbClr val="F9FAFA"/>
                </a:solidFill>
                <a:latin typeface="Consolas"/>
                <a:cs typeface="Consolas"/>
              </a:rPr>
              <a:t> </a:t>
            </a:r>
            <a:r>
              <a:rPr dirty="0" sz="2150" spc="-10">
                <a:solidFill>
                  <a:srgbClr val="F9FAFA"/>
                </a:solidFill>
                <a:latin typeface="Consolas"/>
                <a:cs typeface="Consolas"/>
              </a:rPr>
              <a:t>COMMAND</a:t>
            </a:r>
            <a:endParaRPr sz="21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2000">
              <a:latin typeface="Consolas"/>
              <a:cs typeface="Consolas"/>
            </a:endParaRPr>
          </a:p>
          <a:p>
            <a:pPr marL="194945">
              <a:lnSpc>
                <a:spcPct val="100000"/>
              </a:lnSpc>
            </a:pPr>
            <a:r>
              <a:rPr dirty="0" sz="1200" spc="-120" b="1">
                <a:solidFill>
                  <a:srgbClr val="EF4444"/>
                </a:solidFill>
                <a:latin typeface="Trebuchet MS"/>
                <a:cs typeface="Trebuchet MS"/>
              </a:rPr>
              <a:t>TEAM</a:t>
            </a:r>
            <a:r>
              <a:rPr dirty="0" sz="1200" spc="-65" b="1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EF4444"/>
                </a:solidFill>
                <a:latin typeface="Trebuchet MS"/>
                <a:cs typeface="Trebuchet MS"/>
              </a:rPr>
              <a:t>LEADER</a:t>
            </a:r>
            <a:endParaRPr sz="1200">
              <a:latin typeface="Trebuchet MS"/>
              <a:cs typeface="Trebuchet MS"/>
            </a:endParaRPr>
          </a:p>
          <a:p>
            <a:pPr marL="194945">
              <a:lnSpc>
                <a:spcPct val="100000"/>
              </a:lnSpc>
              <a:spcBef>
                <a:spcPts val="785"/>
              </a:spcBef>
            </a:pPr>
            <a:r>
              <a:rPr dirty="0" sz="1600" spc="-100">
                <a:solidFill>
                  <a:srgbClr val="F9FAFA"/>
                </a:solidFill>
                <a:latin typeface="Trebuchet MS"/>
                <a:cs typeface="Trebuchet MS"/>
              </a:rPr>
              <a:t>AKSHAT</a:t>
            </a:r>
            <a:r>
              <a:rPr dirty="0" sz="1600" spc="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9FAFA"/>
                </a:solidFill>
                <a:latin typeface="Trebuchet MS"/>
                <a:cs typeface="Trebuchet MS"/>
              </a:rPr>
              <a:t>VERMA</a:t>
            </a:r>
            <a:endParaRPr sz="1600">
              <a:latin typeface="Trebuchet MS"/>
              <a:cs typeface="Trebuchet MS"/>
            </a:endParaRPr>
          </a:p>
          <a:p>
            <a:pPr marL="194945">
              <a:lnSpc>
                <a:spcPct val="100000"/>
              </a:lnSpc>
              <a:spcBef>
                <a:spcPts val="805"/>
              </a:spcBef>
            </a:pPr>
            <a:r>
              <a:rPr dirty="0" sz="1200" spc="-120">
                <a:solidFill>
                  <a:srgbClr val="9CA2AF"/>
                </a:solidFill>
                <a:latin typeface="Trebuchet MS"/>
                <a:cs typeface="Trebuchet MS"/>
              </a:rPr>
              <a:t>B.Tech</a:t>
            </a:r>
            <a:r>
              <a:rPr dirty="0" sz="120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9CA2AF"/>
                </a:solidFill>
                <a:latin typeface="Trebuchet MS"/>
                <a:cs typeface="Trebuchet MS"/>
              </a:rPr>
              <a:t>CSE</a:t>
            </a:r>
            <a:r>
              <a:rPr dirty="0" sz="120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85">
                <a:solidFill>
                  <a:srgbClr val="9CA2AF"/>
                </a:solidFill>
                <a:latin typeface="Trebuchet MS"/>
                <a:cs typeface="Trebuchet MS"/>
              </a:rPr>
              <a:t>(AI/ML)</a:t>
            </a:r>
            <a:r>
              <a:rPr dirty="0" sz="120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65">
                <a:solidFill>
                  <a:srgbClr val="9CA2AF"/>
                </a:solidFill>
                <a:latin typeface="Trebuchet MS"/>
                <a:cs typeface="Trebuchet MS"/>
              </a:rPr>
              <a:t>First</a:t>
            </a:r>
            <a:r>
              <a:rPr dirty="0" sz="120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75">
                <a:solidFill>
                  <a:srgbClr val="9CA2AF"/>
                </a:solidFill>
                <a:latin typeface="Trebuchet MS"/>
                <a:cs typeface="Trebuchet MS"/>
              </a:rPr>
              <a:t>Year</a:t>
            </a:r>
            <a:r>
              <a:rPr dirty="0" sz="120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375">
                <a:solidFill>
                  <a:srgbClr val="9CA2AF"/>
                </a:solidFill>
                <a:latin typeface="Trebuchet MS"/>
                <a:cs typeface="Trebuchet MS"/>
              </a:rPr>
              <a:t>|</a:t>
            </a:r>
            <a:r>
              <a:rPr dirty="0" sz="120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9CA2AF"/>
                </a:solidFill>
                <a:latin typeface="Trebuchet MS"/>
                <a:cs typeface="Trebuchet MS"/>
              </a:rPr>
              <a:t>Rama</a:t>
            </a:r>
            <a:r>
              <a:rPr dirty="0" sz="120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80">
                <a:solidFill>
                  <a:srgbClr val="9CA2AF"/>
                </a:solidFill>
                <a:latin typeface="Trebuchet MS"/>
                <a:cs typeface="Trebuchet MS"/>
              </a:rPr>
              <a:t>University,</a:t>
            </a:r>
            <a:r>
              <a:rPr dirty="0" sz="120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9CA2AF"/>
                </a:solidFill>
                <a:latin typeface="Trebuchet MS"/>
                <a:cs typeface="Trebuchet MS"/>
              </a:rPr>
              <a:t>Kanpur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200">
              <a:latin typeface="Trebuchet MS"/>
              <a:cs typeface="Trebuchet MS"/>
            </a:endParaRPr>
          </a:p>
          <a:p>
            <a:pPr marL="194945">
              <a:lnSpc>
                <a:spcPct val="100000"/>
              </a:lnSpc>
            </a:pPr>
            <a:r>
              <a:rPr dirty="0" sz="1200" spc="-120" b="1">
                <a:solidFill>
                  <a:srgbClr val="EF4444"/>
                </a:solidFill>
                <a:latin typeface="Trebuchet MS"/>
                <a:cs typeface="Trebuchet MS"/>
              </a:rPr>
              <a:t>TEAM</a:t>
            </a:r>
            <a:r>
              <a:rPr dirty="0" sz="1200" spc="-55" b="1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200" spc="-75" b="1">
                <a:solidFill>
                  <a:srgbClr val="EF4444"/>
                </a:solidFill>
                <a:latin typeface="Trebuchet MS"/>
                <a:cs typeface="Trebuchet MS"/>
              </a:rPr>
              <a:t>MEMBER</a:t>
            </a:r>
            <a:r>
              <a:rPr dirty="0" sz="1200" spc="-50" b="1">
                <a:solidFill>
                  <a:srgbClr val="EF4444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EF4444"/>
                </a:solidFill>
                <a:latin typeface="Trebuchet MS"/>
                <a:cs typeface="Trebuchet MS"/>
              </a:rPr>
              <a:t>(SOFTWARE)</a:t>
            </a:r>
            <a:endParaRPr sz="1200">
              <a:latin typeface="Trebuchet MS"/>
              <a:cs typeface="Trebuchet MS"/>
            </a:endParaRPr>
          </a:p>
          <a:p>
            <a:pPr marL="194945">
              <a:lnSpc>
                <a:spcPct val="100000"/>
              </a:lnSpc>
              <a:spcBef>
                <a:spcPts val="785"/>
              </a:spcBef>
            </a:pPr>
            <a:r>
              <a:rPr dirty="0" sz="1600" spc="-10">
                <a:solidFill>
                  <a:srgbClr val="F9FAFA"/>
                </a:solidFill>
                <a:latin typeface="Trebuchet MS"/>
                <a:cs typeface="Trebuchet MS"/>
              </a:rPr>
              <a:t>AAYUSH</a:t>
            </a:r>
            <a:endParaRPr sz="1600">
              <a:latin typeface="Trebuchet MS"/>
              <a:cs typeface="Trebuchet MS"/>
            </a:endParaRPr>
          </a:p>
          <a:p>
            <a:pPr marL="194945">
              <a:lnSpc>
                <a:spcPct val="100000"/>
              </a:lnSpc>
              <a:spcBef>
                <a:spcPts val="805"/>
              </a:spcBef>
            </a:pPr>
            <a:r>
              <a:rPr dirty="0" sz="1200" spc="-120">
                <a:solidFill>
                  <a:srgbClr val="9CA2AF"/>
                </a:solidFill>
                <a:latin typeface="Trebuchet MS"/>
                <a:cs typeface="Trebuchet MS"/>
              </a:rPr>
              <a:t>B.Tech</a:t>
            </a:r>
            <a:r>
              <a:rPr dirty="0" sz="120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9CA2AF"/>
                </a:solidFill>
                <a:latin typeface="Trebuchet MS"/>
                <a:cs typeface="Trebuchet MS"/>
              </a:rPr>
              <a:t>CSE</a:t>
            </a:r>
            <a:r>
              <a:rPr dirty="0" sz="120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65">
                <a:solidFill>
                  <a:srgbClr val="9CA2AF"/>
                </a:solidFill>
                <a:latin typeface="Trebuchet MS"/>
                <a:cs typeface="Trebuchet MS"/>
              </a:rPr>
              <a:t>First</a:t>
            </a:r>
            <a:r>
              <a:rPr dirty="0" sz="120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75">
                <a:solidFill>
                  <a:srgbClr val="9CA2AF"/>
                </a:solidFill>
                <a:latin typeface="Trebuchet MS"/>
                <a:cs typeface="Trebuchet MS"/>
              </a:rPr>
              <a:t>Year</a:t>
            </a:r>
            <a:r>
              <a:rPr dirty="0" sz="120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375">
                <a:solidFill>
                  <a:srgbClr val="9CA2AF"/>
                </a:solidFill>
                <a:latin typeface="Trebuchet MS"/>
                <a:cs typeface="Trebuchet MS"/>
              </a:rPr>
              <a:t>|</a:t>
            </a:r>
            <a:r>
              <a:rPr dirty="0" sz="120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50">
                <a:solidFill>
                  <a:srgbClr val="9CA2AF"/>
                </a:solidFill>
                <a:latin typeface="Trebuchet MS"/>
                <a:cs typeface="Trebuchet MS"/>
              </a:rPr>
              <a:t>Rama</a:t>
            </a:r>
            <a:r>
              <a:rPr dirty="0" sz="120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9CA2AF"/>
                </a:solidFill>
                <a:latin typeface="Trebuchet MS"/>
                <a:cs typeface="Trebuchet MS"/>
              </a:rPr>
              <a:t>University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534274" y="0"/>
            <a:ext cx="34290" cy="10704830"/>
          </a:xfrm>
          <a:custGeom>
            <a:avLst/>
            <a:gdLst/>
            <a:ahLst/>
            <a:cxnLst/>
            <a:rect l="l" t="t" r="r" b="b"/>
            <a:pathLst>
              <a:path w="34290" h="10704830">
                <a:moveTo>
                  <a:pt x="0" y="10704576"/>
                </a:moveTo>
                <a:lnTo>
                  <a:pt x="0" y="0"/>
                </a:lnTo>
                <a:lnTo>
                  <a:pt x="33909" y="0"/>
                </a:lnTo>
                <a:lnTo>
                  <a:pt x="33909" y="10704576"/>
                </a:lnTo>
                <a:lnTo>
                  <a:pt x="0" y="10704576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38100" cy="10706100"/>
          </a:xfrm>
          <a:custGeom>
            <a:avLst/>
            <a:gdLst/>
            <a:ahLst/>
            <a:cxnLst/>
            <a:rect l="l" t="t" r="r" b="b"/>
            <a:pathLst>
              <a:path w="38100" h="10706100">
                <a:moveTo>
                  <a:pt x="38099" y="10706099"/>
                </a:moveTo>
                <a:lnTo>
                  <a:pt x="0" y="10706099"/>
                </a:lnTo>
                <a:lnTo>
                  <a:pt x="0" y="0"/>
                </a:lnTo>
                <a:lnTo>
                  <a:pt x="38099" y="0"/>
                </a:lnTo>
                <a:lnTo>
                  <a:pt x="38099" y="10706099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19099" y="0"/>
            <a:ext cx="6734175" cy="581025"/>
            <a:chOff x="419099" y="0"/>
            <a:chExt cx="6734175" cy="581025"/>
          </a:xfrm>
        </p:grpSpPr>
        <p:sp>
          <p:nvSpPr>
            <p:cNvPr id="5" name="object 5" descr=""/>
            <p:cNvSpPr/>
            <p:nvPr/>
          </p:nvSpPr>
          <p:spPr>
            <a:xfrm>
              <a:off x="419099" y="0"/>
              <a:ext cx="6734175" cy="581025"/>
            </a:xfrm>
            <a:custGeom>
              <a:avLst/>
              <a:gdLst/>
              <a:ahLst/>
              <a:cxnLst/>
              <a:rect l="l" t="t" r="r" b="b"/>
              <a:pathLst>
                <a:path w="6734175" h="581025">
                  <a:moveTo>
                    <a:pt x="6734174" y="581024"/>
                  </a:moveTo>
                  <a:lnTo>
                    <a:pt x="0" y="581024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581024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9087" y="0"/>
              <a:ext cx="6734175" cy="581025"/>
            </a:xfrm>
            <a:custGeom>
              <a:avLst/>
              <a:gdLst/>
              <a:ahLst/>
              <a:cxnLst/>
              <a:rect l="l" t="t" r="r" b="b"/>
              <a:pathLst>
                <a:path w="6734175" h="581025">
                  <a:moveTo>
                    <a:pt x="6438900" y="0"/>
                  </a:moveTo>
                  <a:lnTo>
                    <a:pt x="295275" y="0"/>
                  </a:lnTo>
                  <a:lnTo>
                    <a:pt x="295275" y="9525"/>
                  </a:lnTo>
                  <a:lnTo>
                    <a:pt x="6438900" y="9525"/>
                  </a:lnTo>
                  <a:lnTo>
                    <a:pt x="6438900" y="0"/>
                  </a:lnTo>
                  <a:close/>
                </a:path>
                <a:path w="6734175" h="581025">
                  <a:moveTo>
                    <a:pt x="6734175" y="0"/>
                  </a:moveTo>
                  <a:lnTo>
                    <a:pt x="6724650" y="0"/>
                  </a:lnTo>
                  <a:lnTo>
                    <a:pt x="6724650" y="571500"/>
                  </a:lnTo>
                  <a:lnTo>
                    <a:pt x="9525" y="57150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571500"/>
                  </a:lnTo>
                  <a:lnTo>
                    <a:pt x="0" y="581025"/>
                  </a:lnTo>
                  <a:lnTo>
                    <a:pt x="9525" y="581025"/>
                  </a:lnTo>
                  <a:lnTo>
                    <a:pt x="6724650" y="581025"/>
                  </a:lnTo>
                  <a:lnTo>
                    <a:pt x="6734175" y="581025"/>
                  </a:lnTo>
                  <a:lnTo>
                    <a:pt x="6734175" y="571500"/>
                  </a:lnTo>
                  <a:lnTo>
                    <a:pt x="6734175" y="0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28624" y="95885"/>
            <a:ext cx="6705600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0">
              <a:lnSpc>
                <a:spcPct val="100000"/>
              </a:lnSpc>
              <a:spcBef>
                <a:spcPts val="95"/>
              </a:spcBef>
              <a:tabLst>
                <a:tab pos="3410585" algn="l"/>
                <a:tab pos="5318760" algn="l"/>
              </a:tabLst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ADVANCED</a:t>
            </a:r>
            <a:r>
              <a:rPr dirty="0" sz="9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9CA2AF"/>
                </a:solidFill>
                <a:latin typeface="Trebuchet MS"/>
                <a:cs typeface="Trebuchet MS"/>
              </a:rPr>
              <a:t>DEFENSE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SYSTEMS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DIVISION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	</a:t>
            </a:r>
            <a:r>
              <a:rPr dirty="0" sz="950" spc="-85">
                <a:solidFill>
                  <a:srgbClr val="9CA2AF"/>
                </a:solidFill>
                <a:latin typeface="Trebuchet MS"/>
                <a:cs typeface="Trebuchet MS"/>
              </a:rPr>
              <a:t>PAGE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20">
                <a:solidFill>
                  <a:srgbClr val="9CA2AF"/>
                </a:solidFill>
                <a:latin typeface="Trebuchet MS"/>
                <a:cs typeface="Trebuchet MS"/>
              </a:rPr>
              <a:t>01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08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	</a:t>
            </a:r>
            <a:r>
              <a:rPr dirty="0" sz="950" spc="-40">
                <a:solidFill>
                  <a:srgbClr val="9CA2AF"/>
                </a:solidFill>
                <a:latin typeface="Trebuchet MS"/>
                <a:cs typeface="Trebuchet MS"/>
              </a:rPr>
              <a:t>CLASSIFIED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DOCUMENT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953237" y="39052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190500"/>
                </a:lnTo>
                <a:lnTo>
                  <a:pt x="171450" y="190500"/>
                </a:lnTo>
                <a:lnTo>
                  <a:pt x="190500" y="190500"/>
                </a:lnTo>
                <a:lnTo>
                  <a:pt x="190500" y="171450"/>
                </a:lnTo>
                <a:lnTo>
                  <a:pt x="190500" y="0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534274" y="-1"/>
            <a:ext cx="34290" cy="10704830"/>
          </a:xfrm>
          <a:custGeom>
            <a:avLst/>
            <a:gdLst/>
            <a:ahLst/>
            <a:cxnLst/>
            <a:rect l="l" t="t" r="r" b="b"/>
            <a:pathLst>
              <a:path w="34290" h="10704830">
                <a:moveTo>
                  <a:pt x="0" y="10704576"/>
                </a:moveTo>
                <a:lnTo>
                  <a:pt x="0" y="0"/>
                </a:lnTo>
                <a:lnTo>
                  <a:pt x="33909" y="0"/>
                </a:lnTo>
                <a:lnTo>
                  <a:pt x="33909" y="10704576"/>
                </a:lnTo>
                <a:lnTo>
                  <a:pt x="0" y="10704576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0"/>
            <a:ext cx="38100" cy="10706100"/>
          </a:xfrm>
          <a:custGeom>
            <a:avLst/>
            <a:gdLst/>
            <a:ahLst/>
            <a:cxnLst/>
            <a:rect l="l" t="t" r="r" b="b"/>
            <a:pathLst>
              <a:path w="38100" h="10706100">
                <a:moveTo>
                  <a:pt x="38099" y="10706099"/>
                </a:moveTo>
                <a:lnTo>
                  <a:pt x="0" y="10706099"/>
                </a:lnTo>
                <a:lnTo>
                  <a:pt x="0" y="0"/>
                </a:lnTo>
                <a:lnTo>
                  <a:pt x="38099" y="0"/>
                </a:lnTo>
                <a:lnTo>
                  <a:pt x="38099" y="10706099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19099" y="0"/>
            <a:ext cx="6734175" cy="9934575"/>
            <a:chOff x="419099" y="0"/>
            <a:chExt cx="6734175" cy="9934575"/>
          </a:xfrm>
        </p:grpSpPr>
        <p:sp>
          <p:nvSpPr>
            <p:cNvPr id="5" name="object 5" descr=""/>
            <p:cNvSpPr/>
            <p:nvPr/>
          </p:nvSpPr>
          <p:spPr>
            <a:xfrm>
              <a:off x="419099" y="0"/>
              <a:ext cx="6734175" cy="9934575"/>
            </a:xfrm>
            <a:custGeom>
              <a:avLst/>
              <a:gdLst/>
              <a:ahLst/>
              <a:cxnLst/>
              <a:rect l="l" t="t" r="r" b="b"/>
              <a:pathLst>
                <a:path w="6734175" h="9934575">
                  <a:moveTo>
                    <a:pt x="6734174" y="9934574"/>
                  </a:moveTo>
                  <a:lnTo>
                    <a:pt x="0" y="9934574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9934574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23862" y="4761"/>
              <a:ext cx="6724650" cy="9925050"/>
            </a:xfrm>
            <a:custGeom>
              <a:avLst/>
              <a:gdLst/>
              <a:ahLst/>
              <a:cxnLst/>
              <a:rect l="l" t="t" r="r" b="b"/>
              <a:pathLst>
                <a:path w="6724650" h="9925050">
                  <a:moveTo>
                    <a:pt x="0" y="0"/>
                  </a:moveTo>
                  <a:lnTo>
                    <a:pt x="6724649" y="0"/>
                  </a:lnTo>
                  <a:lnTo>
                    <a:pt x="6724649" y="9925049"/>
                  </a:lnTo>
                  <a:lnTo>
                    <a:pt x="0" y="9925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14374" y="600074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14374" y="9353548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512841" y="288290"/>
            <a:ext cx="13582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STATUS: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INTEGRATED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1674" y="288290"/>
            <a:ext cx="4533265" cy="9988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SECTION: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CONVERGENCE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2500">
                <a:solidFill>
                  <a:srgbClr val="3B81F5"/>
                </a:solidFill>
                <a:latin typeface="Consolas"/>
                <a:cs typeface="Consolas"/>
              </a:rPr>
              <a:t>TECHNOLOGICAL</a:t>
            </a:r>
            <a:r>
              <a:rPr dirty="0" sz="2500" spc="-315">
                <a:solidFill>
                  <a:srgbClr val="3B81F5"/>
                </a:solidFill>
                <a:latin typeface="Consolas"/>
                <a:cs typeface="Consolas"/>
              </a:rPr>
              <a:t>  </a:t>
            </a:r>
            <a:r>
              <a:rPr dirty="0" sz="2500" spc="-10">
                <a:solidFill>
                  <a:srgbClr val="3B81F5"/>
                </a:solidFill>
                <a:latin typeface="Consolas"/>
                <a:cs typeface="Consolas"/>
              </a:rPr>
              <a:t>CONVERGENCE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1674" y="1459864"/>
            <a:ext cx="616712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350" spc="-110">
                <a:solidFill>
                  <a:srgbClr val="415461"/>
                </a:solidFill>
                <a:latin typeface="Trebuchet MS"/>
                <a:cs typeface="Trebuchet MS"/>
              </a:rPr>
              <a:t>Project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110">
                <a:solidFill>
                  <a:srgbClr val="415461"/>
                </a:solidFill>
                <a:latin typeface="Trebuchet MS"/>
                <a:cs typeface="Trebuchet MS"/>
              </a:rPr>
              <a:t>Trident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60">
                <a:solidFill>
                  <a:srgbClr val="415461"/>
                </a:solidFill>
                <a:latin typeface="Trebuchet MS"/>
                <a:cs typeface="Trebuchet MS"/>
              </a:rPr>
              <a:t>represents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70">
                <a:solidFill>
                  <a:srgbClr val="415461"/>
                </a:solidFill>
                <a:latin typeface="Trebuchet MS"/>
                <a:cs typeface="Trebuchet MS"/>
              </a:rPr>
              <a:t>the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415461"/>
                </a:solidFill>
                <a:latin typeface="Trebuchet MS"/>
                <a:cs typeface="Trebuchet MS"/>
              </a:rPr>
              <a:t>fusion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415461"/>
                </a:solidFill>
                <a:latin typeface="Trebuchet MS"/>
                <a:cs typeface="Trebuchet MS"/>
              </a:rPr>
              <a:t>of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85">
                <a:solidFill>
                  <a:srgbClr val="415461"/>
                </a:solidFill>
                <a:latin typeface="Trebuchet MS"/>
                <a:cs typeface="Trebuchet MS"/>
              </a:rPr>
              <a:t>three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75">
                <a:solidFill>
                  <a:srgbClr val="415461"/>
                </a:solidFill>
                <a:latin typeface="Trebuchet MS"/>
                <a:cs typeface="Trebuchet MS"/>
              </a:rPr>
              <a:t>distinct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415461"/>
                </a:solidFill>
                <a:latin typeface="Trebuchet MS"/>
                <a:cs typeface="Trebuchet MS"/>
              </a:rPr>
              <a:t>aerospace</a:t>
            </a:r>
            <a:r>
              <a:rPr dirty="0" sz="1350" spc="-20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75">
                <a:solidFill>
                  <a:srgbClr val="415461"/>
                </a:solidFill>
                <a:latin typeface="Trebuchet MS"/>
                <a:cs typeface="Trebuchet MS"/>
              </a:rPr>
              <a:t>disciplines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415461"/>
                </a:solidFill>
                <a:latin typeface="Trebuchet MS"/>
                <a:cs typeface="Trebuchet MS"/>
              </a:rPr>
              <a:t>into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>
                <a:solidFill>
                  <a:srgbClr val="415461"/>
                </a:solidFill>
                <a:latin typeface="Trebuchet MS"/>
                <a:cs typeface="Trebuchet MS"/>
              </a:rPr>
              <a:t>a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415461"/>
                </a:solidFill>
                <a:latin typeface="Trebuchet MS"/>
                <a:cs typeface="Trebuchet MS"/>
              </a:rPr>
              <a:t>unified </a:t>
            </a:r>
            <a:r>
              <a:rPr dirty="0" sz="1350" spc="-85">
                <a:solidFill>
                  <a:srgbClr val="415461"/>
                </a:solidFill>
                <a:latin typeface="Trebuchet MS"/>
                <a:cs typeface="Trebuchet MS"/>
              </a:rPr>
              <a:t>combat</a:t>
            </a:r>
            <a:r>
              <a:rPr dirty="0" sz="1350" spc="-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10">
                <a:solidFill>
                  <a:srgbClr val="415461"/>
                </a:solidFill>
                <a:latin typeface="Trebuchet MS"/>
                <a:cs typeface="Trebuchet MS"/>
              </a:rPr>
              <a:t>platform.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01674" y="6578883"/>
            <a:ext cx="2217420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>
                <a:solidFill>
                  <a:srgbClr val="F9FAFA"/>
                </a:solidFill>
                <a:latin typeface="Consolas"/>
                <a:cs typeface="Consolas"/>
              </a:rPr>
              <a:t>KEY</a:t>
            </a:r>
            <a:r>
              <a:rPr dirty="0" sz="2150" spc="225">
                <a:solidFill>
                  <a:srgbClr val="F9FAFA"/>
                </a:solidFill>
                <a:latin typeface="Consolas"/>
                <a:cs typeface="Consolas"/>
              </a:rPr>
              <a:t> </a:t>
            </a:r>
            <a:r>
              <a:rPr dirty="0" sz="2150" spc="-10">
                <a:solidFill>
                  <a:srgbClr val="F9FAFA"/>
                </a:solidFill>
                <a:latin typeface="Consolas"/>
                <a:cs typeface="Consolas"/>
              </a:rPr>
              <a:t>OBJECTIVES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01674" y="9449434"/>
            <a:ext cx="1932939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ADVANCED</a:t>
            </a:r>
            <a:r>
              <a:rPr dirty="0" sz="9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9CA2AF"/>
                </a:solidFill>
                <a:latin typeface="Trebuchet MS"/>
                <a:cs typeface="Trebuchet MS"/>
              </a:rPr>
              <a:t>DEFENSE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SYSTEMS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DIVISION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17391" y="9449434"/>
            <a:ext cx="735330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85">
                <a:solidFill>
                  <a:srgbClr val="9CA2AF"/>
                </a:solidFill>
                <a:latin typeface="Trebuchet MS"/>
                <a:cs typeface="Trebuchet MS"/>
              </a:rPr>
              <a:t>PAGE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5">
                <a:solidFill>
                  <a:srgbClr val="9CA2AF"/>
                </a:solidFill>
                <a:latin typeface="Trebuchet MS"/>
                <a:cs typeface="Trebuchet MS"/>
              </a:rPr>
              <a:t>02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08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35191" y="9449434"/>
            <a:ext cx="11360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40">
                <a:solidFill>
                  <a:srgbClr val="9CA2AF"/>
                </a:solidFill>
                <a:latin typeface="Trebuchet MS"/>
                <a:cs typeface="Trebuchet MS"/>
              </a:rPr>
              <a:t>CLASSIFIED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70">
                <a:solidFill>
                  <a:srgbClr val="9CA2AF"/>
                </a:solidFill>
                <a:latin typeface="Trebuchet MS"/>
                <a:cs typeface="Trebuchet MS"/>
              </a:rPr>
              <a:t>DOCUMENT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28624" y="9524"/>
            <a:ext cx="5143500" cy="5829300"/>
            <a:chOff x="428624" y="9524"/>
            <a:chExt cx="5143500" cy="5829300"/>
          </a:xfrm>
        </p:grpSpPr>
        <p:sp>
          <p:nvSpPr>
            <p:cNvPr id="17" name="object 17" descr=""/>
            <p:cNvSpPr/>
            <p:nvPr/>
          </p:nvSpPr>
          <p:spPr>
            <a:xfrm>
              <a:off x="428612" y="952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190500"/>
                  </a:lnTo>
                  <a:lnTo>
                    <a:pt x="19050" y="190500"/>
                  </a:lnTo>
                  <a:lnTo>
                    <a:pt x="19050" y="19050"/>
                  </a:lnTo>
                  <a:lnTo>
                    <a:pt x="190500" y="190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9774" y="2600324"/>
              <a:ext cx="3562349" cy="3238500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719486" y="4382862"/>
            <a:ext cx="66675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1275" marR="33655">
              <a:lnSpc>
                <a:spcPct val="120200"/>
              </a:lnSpc>
              <a:spcBef>
                <a:spcPts val="100"/>
              </a:spcBef>
            </a:pPr>
            <a:r>
              <a:rPr dirty="0" sz="1300" spc="-10">
                <a:solidFill>
                  <a:srgbClr val="CCDFFF"/>
                </a:solidFill>
                <a:latin typeface="Consolas"/>
                <a:cs typeface="Consolas"/>
              </a:rPr>
              <a:t>CRUISE </a:t>
            </a:r>
            <a:r>
              <a:rPr dirty="0" sz="1300" spc="-70">
                <a:solidFill>
                  <a:srgbClr val="CCDFFF"/>
                </a:solidFill>
                <a:latin typeface="Consolas"/>
                <a:cs typeface="Consolas"/>
              </a:rPr>
              <a:t>MISSILE</a:t>
            </a:r>
            <a:endParaRPr sz="13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dirty="0" sz="900" spc="-35">
                <a:solidFill>
                  <a:srgbClr val="CCDFFF"/>
                </a:solidFill>
                <a:latin typeface="Consolas"/>
                <a:cs typeface="Consolas"/>
              </a:rPr>
              <a:t>(Precision)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215358" y="4382862"/>
            <a:ext cx="608330" cy="50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070" marR="5080" indent="-167005">
              <a:lnSpc>
                <a:spcPct val="120200"/>
              </a:lnSpc>
              <a:spcBef>
                <a:spcPts val="100"/>
              </a:spcBef>
            </a:pPr>
            <a:r>
              <a:rPr dirty="0" sz="1300" spc="-70">
                <a:solidFill>
                  <a:srgbClr val="FFF5CC"/>
                </a:solidFill>
                <a:latin typeface="Consolas"/>
                <a:cs typeface="Consolas"/>
              </a:rPr>
              <a:t>FIGHTER </a:t>
            </a:r>
            <a:r>
              <a:rPr dirty="0" sz="1300" spc="-25">
                <a:solidFill>
                  <a:srgbClr val="FFF5CC"/>
                </a:solidFill>
                <a:latin typeface="Consolas"/>
                <a:cs typeface="Consolas"/>
              </a:rPr>
              <a:t>JET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011612" y="4938704"/>
            <a:ext cx="101600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45">
                <a:solidFill>
                  <a:srgbClr val="FFF5CC"/>
                </a:solidFill>
                <a:latin typeface="Consolas"/>
                <a:cs typeface="Consolas"/>
              </a:rPr>
              <a:t>(Maneuverability)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19137" y="7358060"/>
            <a:ext cx="1914525" cy="1514475"/>
          </a:xfrm>
          <a:prstGeom prst="rect">
            <a:avLst/>
          </a:prstGeom>
          <a:solidFill>
            <a:srgbClr val="3B81F5">
              <a:alpha val="5099"/>
            </a:srgbClr>
          </a:solidFill>
          <a:ln w="9524">
            <a:solidFill>
              <a:srgbClr val="3B81F5"/>
            </a:solidFill>
          </a:ln>
        </p:spPr>
        <p:txBody>
          <a:bodyPr wrap="square" lIns="0" tIns="140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dirty="0" sz="3200" spc="1870">
                <a:solidFill>
                  <a:srgbClr val="EF4444"/>
                </a:solidFill>
                <a:latin typeface="Cambria"/>
                <a:cs typeface="Cambria"/>
              </a:rPr>
              <a:t>🛡</a:t>
            </a:r>
            <a:endParaRPr sz="3200">
              <a:latin typeface="Cambria"/>
              <a:cs typeface="Cambria"/>
            </a:endParaRPr>
          </a:p>
          <a:p>
            <a:pPr algn="ctr" marL="509270" marR="504825" indent="-635">
              <a:lnSpc>
                <a:spcPct val="125000"/>
              </a:lnSpc>
              <a:spcBef>
                <a:spcPts val="1055"/>
              </a:spcBef>
            </a:pP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Enhanced </a:t>
            </a:r>
            <a:r>
              <a:rPr dirty="0" sz="1350" spc="-75" b="1">
                <a:solidFill>
                  <a:srgbClr val="F9FAFA"/>
                </a:solidFill>
                <a:latin typeface="Trebuchet MS"/>
                <a:cs typeface="Trebuchet MS"/>
              </a:rPr>
              <a:t>Survivability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833687" y="7358060"/>
            <a:ext cx="1905000" cy="1514475"/>
          </a:xfrm>
          <a:prstGeom prst="rect">
            <a:avLst/>
          </a:prstGeom>
          <a:solidFill>
            <a:srgbClr val="3B81F5">
              <a:alpha val="5099"/>
            </a:srgbClr>
          </a:solidFill>
          <a:ln w="9524">
            <a:solidFill>
              <a:srgbClr val="3B81F5"/>
            </a:solidFill>
          </a:ln>
        </p:spPr>
        <p:txBody>
          <a:bodyPr wrap="square" lIns="0" tIns="140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dirty="0" sz="3200" spc="1870">
                <a:solidFill>
                  <a:srgbClr val="3B81F5"/>
                </a:solidFill>
                <a:latin typeface="Cambria"/>
                <a:cs typeface="Cambria"/>
              </a:rPr>
              <a:t>🧠</a:t>
            </a:r>
            <a:endParaRPr sz="3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60"/>
              </a:spcBef>
            </a:pPr>
            <a:r>
              <a:rPr dirty="0" sz="1350" spc="-75" b="1">
                <a:solidFill>
                  <a:srgbClr val="F9FAFA"/>
                </a:solidFill>
                <a:latin typeface="Trebuchet MS"/>
                <a:cs typeface="Trebuchet MS"/>
              </a:rPr>
              <a:t>AI-</a:t>
            </a:r>
            <a:r>
              <a:rPr dirty="0" sz="1350" spc="-105" b="1">
                <a:solidFill>
                  <a:srgbClr val="F9FAFA"/>
                </a:solidFill>
                <a:latin typeface="Trebuchet MS"/>
                <a:cs typeface="Trebuchet MS"/>
              </a:rPr>
              <a:t>Driven</a:t>
            </a:r>
            <a:r>
              <a:rPr dirty="0" sz="1350" spc="-40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Autonomy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938712" y="7358060"/>
            <a:ext cx="1914525" cy="1514475"/>
          </a:xfrm>
          <a:prstGeom prst="rect">
            <a:avLst/>
          </a:prstGeom>
          <a:solidFill>
            <a:srgbClr val="3B81F5">
              <a:alpha val="5099"/>
            </a:srgbClr>
          </a:solidFill>
          <a:ln w="9524">
            <a:solidFill>
              <a:srgbClr val="3B81F5"/>
            </a:solidFill>
          </a:ln>
        </p:spPr>
        <p:txBody>
          <a:bodyPr wrap="square" lIns="0" tIns="14097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110"/>
              </a:spcBef>
            </a:pPr>
            <a:r>
              <a:rPr dirty="0" sz="3200" spc="1870">
                <a:solidFill>
                  <a:srgbClr val="FABE24"/>
                </a:solidFill>
                <a:latin typeface="Cambria"/>
                <a:cs typeface="Cambria"/>
              </a:rPr>
              <a:t>🧩</a:t>
            </a:r>
            <a:endParaRPr sz="3200">
              <a:latin typeface="Cambria"/>
              <a:cs typeface="Cambria"/>
            </a:endParaRPr>
          </a:p>
          <a:p>
            <a:pPr algn="ctr" marL="2540">
              <a:lnSpc>
                <a:spcPct val="100000"/>
              </a:lnSpc>
              <a:spcBef>
                <a:spcPts val="1460"/>
              </a:spcBef>
            </a:pPr>
            <a:r>
              <a:rPr dirty="0" sz="1350" spc="-75" b="1">
                <a:solidFill>
                  <a:srgbClr val="F9FAFA"/>
                </a:solidFill>
                <a:latin typeface="Trebuchet MS"/>
                <a:cs typeface="Trebuchet MS"/>
              </a:rPr>
              <a:t>Modular</a:t>
            </a:r>
            <a:r>
              <a:rPr dirty="0" sz="1350" spc="-65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Flexibility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493008" y="4175759"/>
            <a:ext cx="3651250" cy="5749290"/>
            <a:chOff x="3493008" y="4175759"/>
            <a:chExt cx="3651250" cy="5749290"/>
          </a:xfrm>
        </p:grpSpPr>
        <p:sp>
          <p:nvSpPr>
            <p:cNvPr id="26" name="object 26" descr=""/>
            <p:cNvSpPr/>
            <p:nvPr/>
          </p:nvSpPr>
          <p:spPr>
            <a:xfrm>
              <a:off x="6953237" y="97345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71450" y="0"/>
                  </a:lnTo>
                  <a:lnTo>
                    <a:pt x="171450" y="171450"/>
                  </a:lnTo>
                  <a:lnTo>
                    <a:pt x="0" y="171450"/>
                  </a:lnTo>
                  <a:lnTo>
                    <a:pt x="0" y="190500"/>
                  </a:lnTo>
                  <a:lnTo>
                    <a:pt x="171450" y="190500"/>
                  </a:lnTo>
                  <a:lnTo>
                    <a:pt x="190500" y="190500"/>
                  </a:lnTo>
                  <a:lnTo>
                    <a:pt x="190500" y="1714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493008" y="4175759"/>
              <a:ext cx="585470" cy="222885"/>
            </a:xfrm>
            <a:custGeom>
              <a:avLst/>
              <a:gdLst/>
              <a:ahLst/>
              <a:cxnLst/>
              <a:rect l="l" t="t" r="r" b="b"/>
              <a:pathLst>
                <a:path w="585470" h="222885">
                  <a:moveTo>
                    <a:pt x="585215" y="222503"/>
                  </a:moveTo>
                  <a:lnTo>
                    <a:pt x="0" y="222503"/>
                  </a:lnTo>
                  <a:lnTo>
                    <a:pt x="0" y="0"/>
                  </a:lnTo>
                  <a:lnTo>
                    <a:pt x="585215" y="0"/>
                  </a:lnTo>
                  <a:lnTo>
                    <a:pt x="585215" y="2225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3336379" y="3239862"/>
            <a:ext cx="899794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4930" marR="67310">
              <a:lnSpc>
                <a:spcPct val="120200"/>
              </a:lnSpc>
              <a:spcBef>
                <a:spcPts val="100"/>
              </a:spcBef>
            </a:pPr>
            <a:r>
              <a:rPr dirty="0" sz="1300" spc="-70">
                <a:solidFill>
                  <a:srgbClr val="FFCCCC"/>
                </a:solidFill>
                <a:latin typeface="Consolas"/>
                <a:cs typeface="Consolas"/>
              </a:rPr>
              <a:t>BALLISTIC </a:t>
            </a:r>
            <a:r>
              <a:rPr dirty="0" sz="1300" spc="-10">
                <a:solidFill>
                  <a:srgbClr val="FFCCCC"/>
                </a:solidFill>
                <a:latin typeface="Consolas"/>
                <a:cs typeface="Consolas"/>
              </a:rPr>
              <a:t>MISSILE</a:t>
            </a:r>
            <a:endParaRPr sz="13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dirty="0" sz="900" spc="-30">
                <a:solidFill>
                  <a:srgbClr val="FFCCCC"/>
                </a:solidFill>
                <a:latin typeface="Consolas"/>
                <a:cs typeface="Consolas"/>
              </a:rPr>
              <a:t>(High</a:t>
            </a:r>
            <a:r>
              <a:rPr dirty="0" sz="900" spc="-85">
                <a:solidFill>
                  <a:srgbClr val="FFCCCC"/>
                </a:solidFill>
                <a:latin typeface="Consolas"/>
                <a:cs typeface="Consolas"/>
              </a:rPr>
              <a:t> </a:t>
            </a:r>
            <a:r>
              <a:rPr dirty="0" sz="900" spc="-35">
                <a:solidFill>
                  <a:srgbClr val="FFCCCC"/>
                </a:solidFill>
                <a:latin typeface="Consolas"/>
                <a:cs typeface="Consolas"/>
              </a:rPr>
              <a:t>Altitude)</a:t>
            </a:r>
            <a:endParaRPr sz="9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85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050" spc="-10" b="1">
                <a:solidFill>
                  <a:srgbClr val="EF4444"/>
                </a:solidFill>
                <a:latin typeface="Trebuchet MS"/>
                <a:cs typeface="Trebuchet MS"/>
              </a:rPr>
              <a:t>TRIDENT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3526535" y="4373879"/>
            <a:ext cx="521334" cy="222885"/>
          </a:xfrm>
          <a:custGeom>
            <a:avLst/>
            <a:gdLst/>
            <a:ahLst/>
            <a:cxnLst/>
            <a:rect l="l" t="t" r="r" b="b"/>
            <a:pathLst>
              <a:path w="521335" h="222885">
                <a:moveTo>
                  <a:pt x="521207" y="222503"/>
                </a:moveTo>
                <a:lnTo>
                  <a:pt x="0" y="222503"/>
                </a:lnTo>
                <a:lnTo>
                  <a:pt x="0" y="0"/>
                </a:lnTo>
                <a:lnTo>
                  <a:pt x="521207" y="0"/>
                </a:lnTo>
                <a:lnTo>
                  <a:pt x="521207" y="2225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3571081" y="4380096"/>
            <a:ext cx="43053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65" b="1">
                <a:solidFill>
                  <a:srgbClr val="EF4444"/>
                </a:solidFill>
                <a:latin typeface="Trebuchet MS"/>
                <a:cs typeface="Trebuchet MS"/>
              </a:rPr>
              <a:t>FUSION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3581400" y="4584191"/>
            <a:ext cx="411480" cy="222885"/>
          </a:xfrm>
          <a:custGeom>
            <a:avLst/>
            <a:gdLst/>
            <a:ahLst/>
            <a:cxnLst/>
            <a:rect l="l" t="t" r="r" b="b"/>
            <a:pathLst>
              <a:path w="411479" h="222885">
                <a:moveTo>
                  <a:pt x="411479" y="222503"/>
                </a:moveTo>
                <a:lnTo>
                  <a:pt x="0" y="222503"/>
                </a:lnTo>
                <a:lnTo>
                  <a:pt x="0" y="0"/>
                </a:lnTo>
                <a:lnTo>
                  <a:pt x="411479" y="0"/>
                </a:lnTo>
                <a:lnTo>
                  <a:pt x="411479" y="2225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3628380" y="4589646"/>
            <a:ext cx="31559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75" b="1">
                <a:solidFill>
                  <a:srgbClr val="EF4444"/>
                </a:solidFill>
                <a:latin typeface="Trebuchet MS"/>
                <a:cs typeface="Trebuchet MS"/>
              </a:rPr>
              <a:t>CORE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9099" y="-1"/>
            <a:ext cx="6734175" cy="9258300"/>
            <a:chOff x="419099" y="-1"/>
            <a:chExt cx="6734175" cy="9258300"/>
          </a:xfrm>
        </p:grpSpPr>
        <p:sp>
          <p:nvSpPr>
            <p:cNvPr id="3" name="object 3" descr=""/>
            <p:cNvSpPr/>
            <p:nvPr/>
          </p:nvSpPr>
          <p:spPr>
            <a:xfrm>
              <a:off x="419099" y="-1"/>
              <a:ext cx="6734175" cy="9258300"/>
            </a:xfrm>
            <a:custGeom>
              <a:avLst/>
              <a:gdLst/>
              <a:ahLst/>
              <a:cxnLst/>
              <a:rect l="l" t="t" r="r" b="b"/>
              <a:pathLst>
                <a:path w="6734175" h="9258300">
                  <a:moveTo>
                    <a:pt x="6734174" y="9258299"/>
                  </a:moveTo>
                  <a:lnTo>
                    <a:pt x="0" y="9258299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9258299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23862" y="4761"/>
              <a:ext cx="6724650" cy="9248775"/>
            </a:xfrm>
            <a:custGeom>
              <a:avLst/>
              <a:gdLst/>
              <a:ahLst/>
              <a:cxnLst/>
              <a:rect l="l" t="t" r="r" b="b"/>
              <a:pathLst>
                <a:path w="6724650" h="9248775">
                  <a:moveTo>
                    <a:pt x="0" y="0"/>
                  </a:moveTo>
                  <a:lnTo>
                    <a:pt x="6724649" y="0"/>
                  </a:lnTo>
                  <a:lnTo>
                    <a:pt x="6724649" y="9248774"/>
                  </a:lnTo>
                  <a:lnTo>
                    <a:pt x="0" y="92487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4374" y="600073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4374" y="8677273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01674" y="288290"/>
            <a:ext cx="128397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SECTION: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OPS_FLOW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31060" y="288290"/>
            <a:ext cx="84010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SEQ:</a:t>
            </a:r>
            <a:r>
              <a:rPr dirty="0" sz="1050" spc="10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LINEAR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FABE24"/>
                </a:solidFill>
              </a:rPr>
              <a:t>OPERATIONAL</a:t>
            </a:r>
            <a:r>
              <a:rPr dirty="0" spc="-370">
                <a:solidFill>
                  <a:srgbClr val="FABE24"/>
                </a:solidFill>
              </a:rPr>
              <a:t>  </a:t>
            </a:r>
            <a:r>
              <a:rPr dirty="0" spc="-10">
                <a:solidFill>
                  <a:srgbClr val="FABE24"/>
                </a:solidFill>
              </a:rPr>
              <a:t>PHASES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01674" y="8773159"/>
            <a:ext cx="1932939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ADVANCED</a:t>
            </a:r>
            <a:r>
              <a:rPr dirty="0" sz="9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9CA2AF"/>
                </a:solidFill>
                <a:latin typeface="Trebuchet MS"/>
                <a:cs typeface="Trebuchet MS"/>
              </a:rPr>
              <a:t>DEFENSE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SYSTEMS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DIVISION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16350" y="8773159"/>
            <a:ext cx="73723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85">
                <a:solidFill>
                  <a:srgbClr val="9CA2AF"/>
                </a:solidFill>
                <a:latin typeface="Trebuchet MS"/>
                <a:cs typeface="Trebuchet MS"/>
              </a:rPr>
              <a:t>PAGE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03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08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35191" y="8773159"/>
            <a:ext cx="11360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40">
                <a:solidFill>
                  <a:srgbClr val="9CA2AF"/>
                </a:solidFill>
                <a:latin typeface="Trebuchet MS"/>
                <a:cs typeface="Trebuchet MS"/>
              </a:rPr>
              <a:t>CLASSIFIED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70">
                <a:solidFill>
                  <a:srgbClr val="9CA2AF"/>
                </a:solidFill>
                <a:latin typeface="Trebuchet MS"/>
                <a:cs typeface="Trebuchet MS"/>
              </a:rPr>
              <a:t>DOCUMENT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28624" y="9523"/>
            <a:ext cx="6715125" cy="9239250"/>
            <a:chOff x="428624" y="9523"/>
            <a:chExt cx="6715125" cy="9239250"/>
          </a:xfrm>
        </p:grpSpPr>
        <p:sp>
          <p:nvSpPr>
            <p:cNvPr id="14" name="object 14" descr=""/>
            <p:cNvSpPr/>
            <p:nvPr/>
          </p:nvSpPr>
          <p:spPr>
            <a:xfrm>
              <a:off x="428612" y="952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190500"/>
                  </a:lnTo>
                  <a:lnTo>
                    <a:pt x="19050" y="190500"/>
                  </a:lnTo>
                  <a:lnTo>
                    <a:pt x="19050" y="19050"/>
                  </a:lnTo>
                  <a:lnTo>
                    <a:pt x="190500" y="190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04874" y="1914523"/>
              <a:ext cx="19050" cy="6191250"/>
            </a:xfrm>
            <a:custGeom>
              <a:avLst/>
              <a:gdLst/>
              <a:ahLst/>
              <a:cxnLst/>
              <a:rect l="l" t="t" r="r" b="b"/>
              <a:pathLst>
                <a:path w="19050" h="6191250">
                  <a:moveTo>
                    <a:pt x="19049" y="6191249"/>
                  </a:moveTo>
                  <a:lnTo>
                    <a:pt x="0" y="61912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619124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953237" y="905827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71450" y="0"/>
                  </a:lnTo>
                  <a:lnTo>
                    <a:pt x="171450" y="171450"/>
                  </a:lnTo>
                  <a:lnTo>
                    <a:pt x="0" y="171450"/>
                  </a:lnTo>
                  <a:lnTo>
                    <a:pt x="0" y="190500"/>
                  </a:lnTo>
                  <a:lnTo>
                    <a:pt x="171450" y="190500"/>
                  </a:lnTo>
                  <a:lnTo>
                    <a:pt x="190500" y="190500"/>
                  </a:lnTo>
                  <a:lnTo>
                    <a:pt x="190500" y="1714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23899" y="173354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0"/>
                  </a:lnTo>
                  <a:lnTo>
                    <a:pt x="95662" y="340578"/>
                  </a:lnTo>
                  <a:lnTo>
                    <a:pt x="59446" y="315073"/>
                  </a:lnTo>
                  <a:lnTo>
                    <a:pt x="30499" y="281515"/>
                  </a:lnTo>
                  <a:lnTo>
                    <a:pt x="10574" y="241929"/>
                  </a:lnTo>
                  <a:lnTo>
                    <a:pt x="869" y="198711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6"/>
                  </a:lnTo>
                  <a:lnTo>
                    <a:pt x="25740" y="87940"/>
                  </a:lnTo>
                  <a:lnTo>
                    <a:pt x="53006" y="53005"/>
                  </a:lnTo>
                  <a:lnTo>
                    <a:pt x="87943" y="25741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7"/>
                  </a:lnTo>
                  <a:lnTo>
                    <a:pt x="274005" y="25740"/>
                  </a:lnTo>
                  <a:lnTo>
                    <a:pt x="308943" y="53005"/>
                  </a:lnTo>
                  <a:lnTo>
                    <a:pt x="336208" y="87940"/>
                  </a:lnTo>
                  <a:lnTo>
                    <a:pt x="354159" y="128437"/>
                  </a:lnTo>
                  <a:lnTo>
                    <a:pt x="361732" y="172082"/>
                  </a:lnTo>
                  <a:lnTo>
                    <a:pt x="361949" y="180974"/>
                  </a:lnTo>
                  <a:lnTo>
                    <a:pt x="361732" y="189864"/>
                  </a:lnTo>
                  <a:lnTo>
                    <a:pt x="354159" y="233505"/>
                  </a:lnTo>
                  <a:lnTo>
                    <a:pt x="336208" y="274001"/>
                  </a:lnTo>
                  <a:lnTo>
                    <a:pt x="308943" y="308941"/>
                  </a:lnTo>
                  <a:lnTo>
                    <a:pt x="274005" y="336206"/>
                  </a:lnTo>
                  <a:lnTo>
                    <a:pt x="233509" y="354157"/>
                  </a:lnTo>
                  <a:lnTo>
                    <a:pt x="189865" y="361731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23899" y="173354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5"/>
                  </a:lnTo>
                  <a:lnTo>
                    <a:pt x="340582" y="266282"/>
                  </a:lnTo>
                  <a:lnTo>
                    <a:pt x="315076" y="302500"/>
                  </a:lnTo>
                  <a:lnTo>
                    <a:pt x="281519" y="331447"/>
                  </a:lnTo>
                  <a:lnTo>
                    <a:pt x="241933" y="351373"/>
                  </a:lnTo>
                  <a:lnTo>
                    <a:pt x="198713" y="361079"/>
                  </a:lnTo>
                  <a:lnTo>
                    <a:pt x="180974" y="361949"/>
                  </a:lnTo>
                  <a:lnTo>
                    <a:pt x="172084" y="361731"/>
                  </a:lnTo>
                  <a:lnTo>
                    <a:pt x="128439" y="354155"/>
                  </a:lnTo>
                  <a:lnTo>
                    <a:pt x="87943" y="336204"/>
                  </a:lnTo>
                  <a:lnTo>
                    <a:pt x="53006" y="308941"/>
                  </a:lnTo>
                  <a:lnTo>
                    <a:pt x="25740" y="274001"/>
                  </a:lnTo>
                  <a:lnTo>
                    <a:pt x="7790" y="233505"/>
                  </a:lnTo>
                  <a:lnTo>
                    <a:pt x="217" y="189864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6"/>
                  </a:lnTo>
                  <a:lnTo>
                    <a:pt x="25740" y="87940"/>
                  </a:lnTo>
                  <a:lnTo>
                    <a:pt x="53006" y="53005"/>
                  </a:lnTo>
                  <a:lnTo>
                    <a:pt x="87943" y="25741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7"/>
                  </a:lnTo>
                  <a:lnTo>
                    <a:pt x="274005" y="25740"/>
                  </a:lnTo>
                  <a:lnTo>
                    <a:pt x="308943" y="53005"/>
                  </a:lnTo>
                  <a:lnTo>
                    <a:pt x="336208" y="87940"/>
                  </a:lnTo>
                  <a:lnTo>
                    <a:pt x="354159" y="128437"/>
                  </a:lnTo>
                  <a:lnTo>
                    <a:pt x="361732" y="172082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817463" y="1778000"/>
            <a:ext cx="17462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75" b="1">
                <a:solidFill>
                  <a:srgbClr val="3B81F5"/>
                </a:solidFill>
                <a:latin typeface="Trebuchet MS"/>
                <a:cs typeface="Trebuchet MS"/>
              </a:rPr>
              <a:t>01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90637" y="1728786"/>
            <a:ext cx="5562600" cy="1038225"/>
          </a:xfrm>
          <a:prstGeom prst="rect">
            <a:avLst/>
          </a:prstGeom>
          <a:solidFill>
            <a:srgbClr val="FFFFFF">
              <a:alpha val="3138"/>
            </a:srgbClr>
          </a:solidFill>
          <a:ln w="9524">
            <a:solidFill>
              <a:srgbClr val="37405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235"/>
              </a:spcBef>
            </a:pPr>
            <a:r>
              <a:rPr dirty="0" sz="1350" spc="-140" b="1">
                <a:solidFill>
                  <a:srgbClr val="3B81F5"/>
                </a:solidFill>
                <a:latin typeface="Trebuchet MS"/>
                <a:cs typeface="Trebuchet MS"/>
              </a:rPr>
              <a:t>LAUNCH</a:t>
            </a:r>
            <a:r>
              <a:rPr dirty="0" sz="1350" spc="-80" b="1">
                <a:solidFill>
                  <a:srgbClr val="3B81F5"/>
                </a:solidFill>
                <a:latin typeface="Trebuchet MS"/>
                <a:cs typeface="Trebuchet MS"/>
              </a:rPr>
              <a:t> </a:t>
            </a:r>
            <a:r>
              <a:rPr dirty="0" sz="1350" spc="-130" b="1">
                <a:solidFill>
                  <a:srgbClr val="3B81F5"/>
                </a:solidFill>
                <a:latin typeface="Trebuchet MS"/>
                <a:cs typeface="Trebuchet MS"/>
              </a:rPr>
              <a:t>&amp;</a:t>
            </a:r>
            <a:r>
              <a:rPr dirty="0" sz="1350" spc="-75" b="1">
                <a:solidFill>
                  <a:srgbClr val="3B81F5"/>
                </a:solidFill>
                <a:latin typeface="Trebuchet MS"/>
                <a:cs typeface="Trebuchet MS"/>
              </a:rPr>
              <a:t> </a:t>
            </a:r>
            <a:r>
              <a:rPr dirty="0" sz="1350" spc="-20" b="1">
                <a:solidFill>
                  <a:srgbClr val="3B81F5"/>
                </a:solidFill>
                <a:latin typeface="Trebuchet MS"/>
                <a:cs typeface="Trebuchet MS"/>
              </a:rPr>
              <a:t>BOOST</a:t>
            </a:r>
            <a:endParaRPr sz="1350">
              <a:latin typeface="Trebuchet MS"/>
              <a:cs typeface="Trebuchet MS"/>
            </a:endParaRPr>
          </a:p>
          <a:p>
            <a:pPr marL="147320" marR="175260">
              <a:lnSpc>
                <a:spcPct val="125000"/>
              </a:lnSpc>
              <a:spcBef>
                <a:spcPts val="335"/>
              </a:spcBef>
            </a:pPr>
            <a:r>
              <a:rPr dirty="0" sz="1150" spc="-50">
                <a:solidFill>
                  <a:srgbClr val="F9FAFA"/>
                </a:solidFill>
                <a:latin typeface="Trebuchet MS"/>
                <a:cs typeface="Trebuchet MS"/>
              </a:rPr>
              <a:t>Solid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90">
                <a:solidFill>
                  <a:srgbClr val="F9FAFA"/>
                </a:solidFill>
                <a:latin typeface="Trebuchet MS"/>
                <a:cs typeface="Trebuchet MS"/>
              </a:rPr>
              <a:t>rocket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0">
                <a:solidFill>
                  <a:srgbClr val="F9FAFA"/>
                </a:solidFill>
                <a:latin typeface="Trebuchet MS"/>
                <a:cs typeface="Trebuchet MS"/>
              </a:rPr>
              <a:t>motor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0">
                <a:solidFill>
                  <a:srgbClr val="F9FAFA"/>
                </a:solidFill>
                <a:latin typeface="Trebuchet MS"/>
                <a:cs typeface="Trebuchet MS"/>
              </a:rPr>
              <a:t>ignition.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Vertical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0">
                <a:solidFill>
                  <a:srgbClr val="F9FAFA"/>
                </a:solidFill>
                <a:latin typeface="Trebuchet MS"/>
                <a:cs typeface="Trebuchet MS"/>
              </a:rPr>
              <a:t>ascent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55">
                <a:solidFill>
                  <a:srgbClr val="F9FAFA"/>
                </a:solidFill>
                <a:latin typeface="Trebuchet MS"/>
                <a:cs typeface="Trebuchet MS"/>
              </a:rPr>
              <a:t>to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0">
                <a:solidFill>
                  <a:srgbClr val="F9FAFA"/>
                </a:solidFill>
                <a:latin typeface="Trebuchet MS"/>
                <a:cs typeface="Trebuchet MS"/>
              </a:rPr>
              <a:t>stratospheric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altitude.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5">
                <a:solidFill>
                  <a:srgbClr val="F9FAFA"/>
                </a:solidFill>
                <a:latin typeface="Trebuchet MS"/>
                <a:cs typeface="Trebuchet MS"/>
              </a:rPr>
              <a:t>Mach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95">
                <a:solidFill>
                  <a:srgbClr val="F9FAFA"/>
                </a:solidFill>
                <a:latin typeface="Trebuchet MS"/>
                <a:cs typeface="Trebuchet MS"/>
              </a:rPr>
              <a:t>3.0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attainment </a:t>
            </a: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within</a:t>
            </a:r>
            <a:r>
              <a:rPr dirty="0" sz="1150" spc="-3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45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seconds.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14374" y="2962273"/>
            <a:ext cx="381000" cy="381000"/>
            <a:chOff x="714374" y="2962273"/>
            <a:chExt cx="381000" cy="381000"/>
          </a:xfrm>
        </p:grpSpPr>
        <p:sp>
          <p:nvSpPr>
            <p:cNvPr id="22" name="object 22" descr=""/>
            <p:cNvSpPr/>
            <p:nvPr/>
          </p:nvSpPr>
          <p:spPr>
            <a:xfrm>
              <a:off x="723899" y="297179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0"/>
                  </a:lnTo>
                  <a:lnTo>
                    <a:pt x="95662" y="340578"/>
                  </a:lnTo>
                  <a:lnTo>
                    <a:pt x="59446" y="315073"/>
                  </a:lnTo>
                  <a:lnTo>
                    <a:pt x="30499" y="281515"/>
                  </a:lnTo>
                  <a:lnTo>
                    <a:pt x="10574" y="241929"/>
                  </a:lnTo>
                  <a:lnTo>
                    <a:pt x="869" y="198711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3"/>
                  </a:lnTo>
                  <a:lnTo>
                    <a:pt x="25740" y="87938"/>
                  </a:lnTo>
                  <a:lnTo>
                    <a:pt x="53006" y="53003"/>
                  </a:lnTo>
                  <a:lnTo>
                    <a:pt x="87943" y="25736"/>
                  </a:lnTo>
                  <a:lnTo>
                    <a:pt x="128439" y="7788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7"/>
                  </a:lnTo>
                  <a:lnTo>
                    <a:pt x="274005" y="25736"/>
                  </a:lnTo>
                  <a:lnTo>
                    <a:pt x="308943" y="53003"/>
                  </a:lnTo>
                  <a:lnTo>
                    <a:pt x="336208" y="87940"/>
                  </a:lnTo>
                  <a:lnTo>
                    <a:pt x="354159" y="128434"/>
                  </a:lnTo>
                  <a:lnTo>
                    <a:pt x="361732" y="172082"/>
                  </a:lnTo>
                  <a:lnTo>
                    <a:pt x="361949" y="180974"/>
                  </a:lnTo>
                  <a:lnTo>
                    <a:pt x="361732" y="189864"/>
                  </a:lnTo>
                  <a:lnTo>
                    <a:pt x="354159" y="233503"/>
                  </a:lnTo>
                  <a:lnTo>
                    <a:pt x="336208" y="274001"/>
                  </a:lnTo>
                  <a:lnTo>
                    <a:pt x="308943" y="308941"/>
                  </a:lnTo>
                  <a:lnTo>
                    <a:pt x="274005" y="336205"/>
                  </a:lnTo>
                  <a:lnTo>
                    <a:pt x="233509" y="354156"/>
                  </a:lnTo>
                  <a:lnTo>
                    <a:pt x="189865" y="361731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3899" y="297179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3"/>
                  </a:lnTo>
                  <a:lnTo>
                    <a:pt x="340582" y="266281"/>
                  </a:lnTo>
                  <a:lnTo>
                    <a:pt x="315076" y="302500"/>
                  </a:lnTo>
                  <a:lnTo>
                    <a:pt x="281519" y="331447"/>
                  </a:lnTo>
                  <a:lnTo>
                    <a:pt x="241933" y="351372"/>
                  </a:lnTo>
                  <a:lnTo>
                    <a:pt x="198713" y="361079"/>
                  </a:lnTo>
                  <a:lnTo>
                    <a:pt x="180974" y="361949"/>
                  </a:lnTo>
                  <a:lnTo>
                    <a:pt x="172084" y="361731"/>
                  </a:lnTo>
                  <a:lnTo>
                    <a:pt x="128439" y="354155"/>
                  </a:lnTo>
                  <a:lnTo>
                    <a:pt x="87943" y="336204"/>
                  </a:lnTo>
                  <a:lnTo>
                    <a:pt x="53006" y="308941"/>
                  </a:lnTo>
                  <a:lnTo>
                    <a:pt x="25740" y="274001"/>
                  </a:lnTo>
                  <a:lnTo>
                    <a:pt x="7790" y="233504"/>
                  </a:lnTo>
                  <a:lnTo>
                    <a:pt x="217" y="189864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3"/>
                  </a:lnTo>
                  <a:lnTo>
                    <a:pt x="25740" y="87938"/>
                  </a:lnTo>
                  <a:lnTo>
                    <a:pt x="53006" y="53003"/>
                  </a:lnTo>
                  <a:lnTo>
                    <a:pt x="87943" y="25736"/>
                  </a:lnTo>
                  <a:lnTo>
                    <a:pt x="128439" y="7788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7"/>
                  </a:lnTo>
                  <a:lnTo>
                    <a:pt x="274005" y="25736"/>
                  </a:lnTo>
                  <a:lnTo>
                    <a:pt x="308943" y="53003"/>
                  </a:lnTo>
                  <a:lnTo>
                    <a:pt x="336208" y="87940"/>
                  </a:lnTo>
                  <a:lnTo>
                    <a:pt x="354159" y="128434"/>
                  </a:lnTo>
                  <a:lnTo>
                    <a:pt x="361732" y="172082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803919" y="3016250"/>
            <a:ext cx="2019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5" b="1">
                <a:solidFill>
                  <a:srgbClr val="3B81F5"/>
                </a:solidFill>
                <a:latin typeface="Trebuchet MS"/>
                <a:cs typeface="Trebuchet MS"/>
              </a:rPr>
              <a:t>02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90637" y="2967036"/>
            <a:ext cx="5562600" cy="1038225"/>
          </a:xfrm>
          <a:prstGeom prst="rect">
            <a:avLst/>
          </a:prstGeom>
          <a:solidFill>
            <a:srgbClr val="FFFFFF">
              <a:alpha val="3138"/>
            </a:srgbClr>
          </a:solidFill>
          <a:ln w="9524">
            <a:solidFill>
              <a:srgbClr val="37405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235"/>
              </a:spcBef>
            </a:pPr>
            <a:r>
              <a:rPr dirty="0" sz="1350" spc="-95" b="1">
                <a:solidFill>
                  <a:srgbClr val="3B81F5"/>
                </a:solidFill>
                <a:latin typeface="Trebuchet MS"/>
                <a:cs typeface="Trebuchet MS"/>
              </a:rPr>
              <a:t>MIDCOURSE</a:t>
            </a:r>
            <a:r>
              <a:rPr dirty="0" sz="1350" spc="-65" b="1">
                <a:solidFill>
                  <a:srgbClr val="3B81F5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3B81F5"/>
                </a:solidFill>
                <a:latin typeface="Trebuchet MS"/>
                <a:cs typeface="Trebuchet MS"/>
              </a:rPr>
              <a:t>TRANSIT</a:t>
            </a:r>
            <a:endParaRPr sz="1350">
              <a:latin typeface="Trebuchet MS"/>
              <a:cs typeface="Trebuchet MS"/>
            </a:endParaRPr>
          </a:p>
          <a:p>
            <a:pPr marL="147320" marR="476884">
              <a:lnSpc>
                <a:spcPct val="125000"/>
              </a:lnSpc>
              <a:spcBef>
                <a:spcPts val="335"/>
              </a:spcBef>
            </a:pPr>
            <a:r>
              <a:rPr dirty="0" sz="1150" spc="-80">
                <a:solidFill>
                  <a:srgbClr val="F9FAFA"/>
                </a:solidFill>
                <a:latin typeface="Trebuchet MS"/>
                <a:cs typeface="Trebuchet MS"/>
              </a:rPr>
              <a:t>Scramjet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activation.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35">
                <a:solidFill>
                  <a:srgbClr val="F9FAFA"/>
                </a:solidFill>
                <a:latin typeface="Trebuchet MS"/>
                <a:cs typeface="Trebuchet MS"/>
              </a:rPr>
              <a:t>Sustained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5">
                <a:solidFill>
                  <a:srgbClr val="F9FAFA"/>
                </a:solidFill>
                <a:latin typeface="Trebuchet MS"/>
                <a:cs typeface="Trebuchet MS"/>
              </a:rPr>
              <a:t>hypersonic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0">
                <a:solidFill>
                  <a:srgbClr val="F9FAFA"/>
                </a:solidFill>
                <a:latin typeface="Trebuchet MS"/>
                <a:cs typeface="Trebuchet MS"/>
              </a:rPr>
              <a:t>cruise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50">
                <a:solidFill>
                  <a:srgbClr val="F9FAFA"/>
                </a:solidFill>
                <a:latin typeface="Trebuchet MS"/>
                <a:cs typeface="Trebuchet MS"/>
              </a:rPr>
              <a:t>at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5">
                <a:solidFill>
                  <a:srgbClr val="F9FAFA"/>
                </a:solidFill>
                <a:latin typeface="Trebuchet MS"/>
                <a:cs typeface="Trebuchet MS"/>
              </a:rPr>
              <a:t>Mach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130">
                <a:solidFill>
                  <a:srgbClr val="F9FAFA"/>
                </a:solidFill>
                <a:latin typeface="Trebuchet MS"/>
                <a:cs typeface="Trebuchet MS"/>
              </a:rPr>
              <a:t>8.5.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0">
                <a:solidFill>
                  <a:srgbClr val="F9FAFA"/>
                </a:solidFill>
                <a:latin typeface="Trebuchet MS"/>
                <a:cs typeface="Trebuchet MS"/>
              </a:rPr>
              <a:t>Satellite-</a:t>
            </a: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linked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course correction.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14374" y="4200523"/>
            <a:ext cx="381000" cy="381000"/>
            <a:chOff x="714374" y="4200523"/>
            <a:chExt cx="381000" cy="381000"/>
          </a:xfrm>
        </p:grpSpPr>
        <p:sp>
          <p:nvSpPr>
            <p:cNvPr id="27" name="object 27" descr=""/>
            <p:cNvSpPr/>
            <p:nvPr/>
          </p:nvSpPr>
          <p:spPr>
            <a:xfrm>
              <a:off x="723899" y="421004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3"/>
                  </a:lnTo>
                  <a:lnTo>
                    <a:pt x="95662" y="340580"/>
                  </a:lnTo>
                  <a:lnTo>
                    <a:pt x="59446" y="315074"/>
                  </a:lnTo>
                  <a:lnTo>
                    <a:pt x="30499" y="281515"/>
                  </a:lnTo>
                  <a:lnTo>
                    <a:pt x="10574" y="241931"/>
                  </a:lnTo>
                  <a:lnTo>
                    <a:pt x="869" y="198713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4"/>
                  </a:lnTo>
                  <a:lnTo>
                    <a:pt x="25740" y="87938"/>
                  </a:lnTo>
                  <a:lnTo>
                    <a:pt x="53006" y="53003"/>
                  </a:lnTo>
                  <a:lnTo>
                    <a:pt x="87943" y="25737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9"/>
                  </a:lnTo>
                  <a:lnTo>
                    <a:pt x="274005" y="25737"/>
                  </a:lnTo>
                  <a:lnTo>
                    <a:pt x="308943" y="53003"/>
                  </a:lnTo>
                  <a:lnTo>
                    <a:pt x="336208" y="87938"/>
                  </a:lnTo>
                  <a:lnTo>
                    <a:pt x="354159" y="128434"/>
                  </a:lnTo>
                  <a:lnTo>
                    <a:pt x="361732" y="172082"/>
                  </a:lnTo>
                  <a:lnTo>
                    <a:pt x="361949" y="180974"/>
                  </a:lnTo>
                  <a:lnTo>
                    <a:pt x="361732" y="189866"/>
                  </a:lnTo>
                  <a:lnTo>
                    <a:pt x="354159" y="233505"/>
                  </a:lnTo>
                  <a:lnTo>
                    <a:pt x="336208" y="274001"/>
                  </a:lnTo>
                  <a:lnTo>
                    <a:pt x="308943" y="308941"/>
                  </a:lnTo>
                  <a:lnTo>
                    <a:pt x="274005" y="336206"/>
                  </a:lnTo>
                  <a:lnTo>
                    <a:pt x="233509" y="354157"/>
                  </a:lnTo>
                  <a:lnTo>
                    <a:pt x="189865" y="361732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23899" y="421004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5"/>
                  </a:lnTo>
                  <a:lnTo>
                    <a:pt x="340582" y="266282"/>
                  </a:lnTo>
                  <a:lnTo>
                    <a:pt x="315076" y="302501"/>
                  </a:lnTo>
                  <a:lnTo>
                    <a:pt x="281519" y="331447"/>
                  </a:lnTo>
                  <a:lnTo>
                    <a:pt x="241933" y="351373"/>
                  </a:lnTo>
                  <a:lnTo>
                    <a:pt x="198713" y="361080"/>
                  </a:lnTo>
                  <a:lnTo>
                    <a:pt x="180974" y="361949"/>
                  </a:lnTo>
                  <a:lnTo>
                    <a:pt x="172084" y="361732"/>
                  </a:lnTo>
                  <a:lnTo>
                    <a:pt x="128439" y="354157"/>
                  </a:lnTo>
                  <a:lnTo>
                    <a:pt x="87943" y="336206"/>
                  </a:lnTo>
                  <a:lnTo>
                    <a:pt x="53006" y="308941"/>
                  </a:lnTo>
                  <a:lnTo>
                    <a:pt x="25740" y="274002"/>
                  </a:lnTo>
                  <a:lnTo>
                    <a:pt x="7790" y="233507"/>
                  </a:lnTo>
                  <a:lnTo>
                    <a:pt x="217" y="189866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4"/>
                  </a:lnTo>
                  <a:lnTo>
                    <a:pt x="25740" y="87938"/>
                  </a:lnTo>
                  <a:lnTo>
                    <a:pt x="53006" y="53003"/>
                  </a:lnTo>
                  <a:lnTo>
                    <a:pt x="87943" y="25737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9"/>
                  </a:lnTo>
                  <a:lnTo>
                    <a:pt x="274005" y="25737"/>
                  </a:lnTo>
                  <a:lnTo>
                    <a:pt x="308943" y="53003"/>
                  </a:lnTo>
                  <a:lnTo>
                    <a:pt x="336208" y="87938"/>
                  </a:lnTo>
                  <a:lnTo>
                    <a:pt x="354159" y="128434"/>
                  </a:lnTo>
                  <a:lnTo>
                    <a:pt x="361732" y="172082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802580" y="4254500"/>
            <a:ext cx="20510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5" b="1">
                <a:solidFill>
                  <a:srgbClr val="3B81F5"/>
                </a:solidFill>
                <a:latin typeface="Trebuchet MS"/>
                <a:cs typeface="Trebuchet MS"/>
              </a:rPr>
              <a:t>03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290637" y="4205285"/>
            <a:ext cx="5562600" cy="1028700"/>
          </a:xfrm>
          <a:prstGeom prst="rect">
            <a:avLst/>
          </a:prstGeom>
          <a:solidFill>
            <a:srgbClr val="FFFFFF">
              <a:alpha val="3138"/>
            </a:srgbClr>
          </a:solidFill>
          <a:ln w="9524">
            <a:solidFill>
              <a:srgbClr val="37405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235"/>
              </a:spcBef>
            </a:pPr>
            <a:r>
              <a:rPr dirty="0" sz="1350" spc="-160" b="1">
                <a:solidFill>
                  <a:srgbClr val="3B81F5"/>
                </a:solidFill>
                <a:latin typeface="Trebuchet MS"/>
                <a:cs typeface="Trebuchet MS"/>
              </a:rPr>
              <a:t>THREAT</a:t>
            </a:r>
            <a:r>
              <a:rPr dirty="0" sz="1350" spc="-75" b="1">
                <a:solidFill>
                  <a:srgbClr val="3B81F5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3B81F5"/>
                </a:solidFill>
                <a:latin typeface="Trebuchet MS"/>
                <a:cs typeface="Trebuchet MS"/>
              </a:rPr>
              <a:t>RESPONSE</a:t>
            </a:r>
            <a:endParaRPr sz="1350">
              <a:latin typeface="Trebuchet MS"/>
              <a:cs typeface="Trebuchet MS"/>
            </a:endParaRPr>
          </a:p>
          <a:p>
            <a:pPr marL="147320" marR="314960">
              <a:lnSpc>
                <a:spcPct val="125000"/>
              </a:lnSpc>
              <a:spcBef>
                <a:spcPts val="335"/>
              </a:spcBef>
            </a:pP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AI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detection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of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45">
                <a:solidFill>
                  <a:srgbClr val="F9FAFA"/>
                </a:solidFill>
                <a:latin typeface="Trebuchet MS"/>
                <a:cs typeface="Trebuchet MS"/>
              </a:rPr>
              <a:t>ABM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50">
                <a:solidFill>
                  <a:srgbClr val="F9FAFA"/>
                </a:solidFill>
                <a:latin typeface="Trebuchet MS"/>
                <a:cs typeface="Trebuchet MS"/>
              </a:rPr>
              <a:t>systems.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0">
                <a:solidFill>
                  <a:srgbClr val="F9FAFA"/>
                </a:solidFill>
                <a:latin typeface="Trebuchet MS"/>
                <a:cs typeface="Trebuchet MS"/>
              </a:rPr>
              <a:t>Evasive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0">
                <a:solidFill>
                  <a:srgbClr val="F9FAFA"/>
                </a:solidFill>
                <a:latin typeface="Trebuchet MS"/>
                <a:cs typeface="Trebuchet MS"/>
              </a:rPr>
              <a:t>maneuvering.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Electronic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Counter-</a:t>
            </a:r>
            <a:r>
              <a:rPr dirty="0" sz="1150" spc="-40">
                <a:solidFill>
                  <a:srgbClr val="F9FAFA"/>
                </a:solidFill>
                <a:latin typeface="Trebuchet MS"/>
                <a:cs typeface="Trebuchet MS"/>
              </a:rPr>
              <a:t>Measures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 (ECM) deployment.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14374" y="5429248"/>
            <a:ext cx="381000" cy="381000"/>
            <a:chOff x="714374" y="5429248"/>
            <a:chExt cx="381000" cy="381000"/>
          </a:xfrm>
        </p:grpSpPr>
        <p:sp>
          <p:nvSpPr>
            <p:cNvPr id="32" name="object 32" descr=""/>
            <p:cNvSpPr/>
            <p:nvPr/>
          </p:nvSpPr>
          <p:spPr>
            <a:xfrm>
              <a:off x="723899" y="5438773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0"/>
                  </a:lnTo>
                  <a:lnTo>
                    <a:pt x="95662" y="340578"/>
                  </a:lnTo>
                  <a:lnTo>
                    <a:pt x="59446" y="315074"/>
                  </a:lnTo>
                  <a:lnTo>
                    <a:pt x="30499" y="281515"/>
                  </a:lnTo>
                  <a:lnTo>
                    <a:pt x="10574" y="241929"/>
                  </a:lnTo>
                  <a:lnTo>
                    <a:pt x="869" y="198712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4"/>
                  </a:lnTo>
                  <a:lnTo>
                    <a:pt x="25740" y="87938"/>
                  </a:lnTo>
                  <a:lnTo>
                    <a:pt x="53006" y="53003"/>
                  </a:lnTo>
                  <a:lnTo>
                    <a:pt x="87943" y="25739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9"/>
                  </a:lnTo>
                  <a:lnTo>
                    <a:pt x="274005" y="25737"/>
                  </a:lnTo>
                  <a:lnTo>
                    <a:pt x="308943" y="53003"/>
                  </a:lnTo>
                  <a:lnTo>
                    <a:pt x="336208" y="87938"/>
                  </a:lnTo>
                  <a:lnTo>
                    <a:pt x="354159" y="128434"/>
                  </a:lnTo>
                  <a:lnTo>
                    <a:pt x="361732" y="172082"/>
                  </a:lnTo>
                  <a:lnTo>
                    <a:pt x="361949" y="180974"/>
                  </a:lnTo>
                  <a:lnTo>
                    <a:pt x="361732" y="189866"/>
                  </a:lnTo>
                  <a:lnTo>
                    <a:pt x="354159" y="233505"/>
                  </a:lnTo>
                  <a:lnTo>
                    <a:pt x="336208" y="273999"/>
                  </a:lnTo>
                  <a:lnTo>
                    <a:pt x="308943" y="308941"/>
                  </a:lnTo>
                  <a:lnTo>
                    <a:pt x="274005" y="336205"/>
                  </a:lnTo>
                  <a:lnTo>
                    <a:pt x="233509" y="354154"/>
                  </a:lnTo>
                  <a:lnTo>
                    <a:pt x="189865" y="361731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23899" y="5438773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5"/>
                  </a:lnTo>
                  <a:lnTo>
                    <a:pt x="340582" y="266281"/>
                  </a:lnTo>
                  <a:lnTo>
                    <a:pt x="315076" y="302499"/>
                  </a:lnTo>
                  <a:lnTo>
                    <a:pt x="281519" y="331447"/>
                  </a:lnTo>
                  <a:lnTo>
                    <a:pt x="241933" y="351370"/>
                  </a:lnTo>
                  <a:lnTo>
                    <a:pt x="198713" y="361077"/>
                  </a:lnTo>
                  <a:lnTo>
                    <a:pt x="180974" y="361949"/>
                  </a:lnTo>
                  <a:lnTo>
                    <a:pt x="172084" y="361731"/>
                  </a:lnTo>
                  <a:lnTo>
                    <a:pt x="128439" y="354154"/>
                  </a:lnTo>
                  <a:lnTo>
                    <a:pt x="87943" y="336205"/>
                  </a:lnTo>
                  <a:lnTo>
                    <a:pt x="53006" y="308941"/>
                  </a:lnTo>
                  <a:lnTo>
                    <a:pt x="25740" y="274001"/>
                  </a:lnTo>
                  <a:lnTo>
                    <a:pt x="7790" y="233505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4"/>
                  </a:lnTo>
                  <a:lnTo>
                    <a:pt x="25740" y="87938"/>
                  </a:lnTo>
                  <a:lnTo>
                    <a:pt x="53006" y="53003"/>
                  </a:lnTo>
                  <a:lnTo>
                    <a:pt x="87943" y="25739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9"/>
                  </a:lnTo>
                  <a:lnTo>
                    <a:pt x="274005" y="25737"/>
                  </a:lnTo>
                  <a:lnTo>
                    <a:pt x="308943" y="53003"/>
                  </a:lnTo>
                  <a:lnTo>
                    <a:pt x="336208" y="87938"/>
                  </a:lnTo>
                  <a:lnTo>
                    <a:pt x="354159" y="128434"/>
                  </a:lnTo>
                  <a:lnTo>
                    <a:pt x="361732" y="172082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799752" y="5492750"/>
            <a:ext cx="21018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5" b="1">
                <a:solidFill>
                  <a:srgbClr val="3B81F5"/>
                </a:solidFill>
                <a:latin typeface="Trebuchet MS"/>
                <a:cs typeface="Trebuchet MS"/>
              </a:rPr>
              <a:t>04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290637" y="5434010"/>
            <a:ext cx="5562600" cy="819150"/>
          </a:xfrm>
          <a:prstGeom prst="rect">
            <a:avLst/>
          </a:prstGeom>
          <a:solidFill>
            <a:srgbClr val="FFFFFF">
              <a:alpha val="3138"/>
            </a:srgbClr>
          </a:solidFill>
          <a:ln w="9524">
            <a:solidFill>
              <a:srgbClr val="37405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235"/>
              </a:spcBef>
            </a:pPr>
            <a:r>
              <a:rPr dirty="0" sz="1350" spc="-10" b="1">
                <a:solidFill>
                  <a:srgbClr val="3B81F5"/>
                </a:solidFill>
                <a:latin typeface="Trebuchet MS"/>
                <a:cs typeface="Trebuchet MS"/>
              </a:rPr>
              <a:t>SEPARATION</a:t>
            </a:r>
            <a:endParaRPr sz="1350">
              <a:latin typeface="Trebuchet MS"/>
              <a:cs typeface="Trebuchet MS"/>
            </a:endParaRPr>
          </a:p>
          <a:p>
            <a:pPr marL="147320">
              <a:lnSpc>
                <a:spcPct val="100000"/>
              </a:lnSpc>
              <a:spcBef>
                <a:spcPts val="680"/>
              </a:spcBef>
            </a:pPr>
            <a:r>
              <a:rPr dirty="0" sz="1150" spc="-50">
                <a:solidFill>
                  <a:srgbClr val="F9FAFA"/>
                </a:solidFill>
                <a:latin typeface="Trebuchet MS"/>
                <a:cs typeface="Trebuchet MS"/>
              </a:rPr>
              <a:t>Booster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stage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detachment.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105">
                <a:solidFill>
                  <a:srgbClr val="F9FAFA"/>
                </a:solidFill>
                <a:latin typeface="Trebuchet MS"/>
                <a:cs typeface="Trebuchet MS"/>
              </a:rPr>
              <a:t>Glide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vehicle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0">
                <a:solidFill>
                  <a:srgbClr val="F9FAFA"/>
                </a:solidFill>
                <a:latin typeface="Trebuchet MS"/>
                <a:cs typeface="Trebuchet MS"/>
              </a:rPr>
              <a:t>release.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90">
                <a:solidFill>
                  <a:srgbClr val="F9FAFA"/>
                </a:solidFill>
                <a:latin typeface="Trebuchet MS"/>
                <a:cs typeface="Trebuchet MS"/>
              </a:rPr>
              <a:t>Terminal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55">
                <a:solidFill>
                  <a:srgbClr val="F9FAFA"/>
                </a:solidFill>
                <a:latin typeface="Trebuchet MS"/>
                <a:cs typeface="Trebuchet MS"/>
              </a:rPr>
              <a:t>targeting</a:t>
            </a:r>
            <a:r>
              <a:rPr dirty="0" sz="11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100">
                <a:solidFill>
                  <a:srgbClr val="F9FAFA"/>
                </a:solidFill>
                <a:latin typeface="Trebuchet MS"/>
                <a:cs typeface="Trebuchet MS"/>
              </a:rPr>
              <a:t>lock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engaged.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714374" y="6448423"/>
            <a:ext cx="381000" cy="381000"/>
            <a:chOff x="714374" y="6448423"/>
            <a:chExt cx="381000" cy="381000"/>
          </a:xfrm>
        </p:grpSpPr>
        <p:sp>
          <p:nvSpPr>
            <p:cNvPr id="37" name="object 37" descr=""/>
            <p:cNvSpPr/>
            <p:nvPr/>
          </p:nvSpPr>
          <p:spPr>
            <a:xfrm>
              <a:off x="723899" y="645794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0"/>
                  </a:lnTo>
                  <a:lnTo>
                    <a:pt x="95662" y="340577"/>
                  </a:lnTo>
                  <a:lnTo>
                    <a:pt x="59446" y="315072"/>
                  </a:lnTo>
                  <a:lnTo>
                    <a:pt x="30499" y="281513"/>
                  </a:lnTo>
                  <a:lnTo>
                    <a:pt x="10574" y="241929"/>
                  </a:lnTo>
                  <a:lnTo>
                    <a:pt x="869" y="198711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5"/>
                  </a:lnTo>
                  <a:lnTo>
                    <a:pt x="25740" y="87938"/>
                  </a:lnTo>
                  <a:lnTo>
                    <a:pt x="53006" y="53003"/>
                  </a:lnTo>
                  <a:lnTo>
                    <a:pt x="87943" y="25737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7"/>
                  </a:lnTo>
                  <a:lnTo>
                    <a:pt x="274005" y="25736"/>
                  </a:lnTo>
                  <a:lnTo>
                    <a:pt x="308943" y="53003"/>
                  </a:lnTo>
                  <a:lnTo>
                    <a:pt x="336208" y="87939"/>
                  </a:lnTo>
                  <a:lnTo>
                    <a:pt x="354159" y="128435"/>
                  </a:lnTo>
                  <a:lnTo>
                    <a:pt x="361732" y="172082"/>
                  </a:lnTo>
                  <a:lnTo>
                    <a:pt x="361949" y="180974"/>
                  </a:lnTo>
                  <a:lnTo>
                    <a:pt x="361732" y="189864"/>
                  </a:lnTo>
                  <a:lnTo>
                    <a:pt x="354159" y="233504"/>
                  </a:lnTo>
                  <a:lnTo>
                    <a:pt x="336208" y="273999"/>
                  </a:lnTo>
                  <a:lnTo>
                    <a:pt x="308943" y="308939"/>
                  </a:lnTo>
                  <a:lnTo>
                    <a:pt x="274005" y="336203"/>
                  </a:lnTo>
                  <a:lnTo>
                    <a:pt x="233509" y="354154"/>
                  </a:lnTo>
                  <a:lnTo>
                    <a:pt x="189865" y="361732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23899" y="645794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4"/>
                  </a:lnTo>
                  <a:lnTo>
                    <a:pt x="340582" y="266281"/>
                  </a:lnTo>
                  <a:lnTo>
                    <a:pt x="315076" y="302499"/>
                  </a:lnTo>
                  <a:lnTo>
                    <a:pt x="281519" y="331445"/>
                  </a:lnTo>
                  <a:lnTo>
                    <a:pt x="241933" y="351370"/>
                  </a:lnTo>
                  <a:lnTo>
                    <a:pt x="198713" y="361079"/>
                  </a:lnTo>
                  <a:lnTo>
                    <a:pt x="180974" y="361949"/>
                  </a:lnTo>
                  <a:lnTo>
                    <a:pt x="172084" y="361732"/>
                  </a:lnTo>
                  <a:lnTo>
                    <a:pt x="128439" y="354154"/>
                  </a:lnTo>
                  <a:lnTo>
                    <a:pt x="87943" y="336203"/>
                  </a:lnTo>
                  <a:lnTo>
                    <a:pt x="53006" y="308939"/>
                  </a:lnTo>
                  <a:lnTo>
                    <a:pt x="25740" y="273999"/>
                  </a:lnTo>
                  <a:lnTo>
                    <a:pt x="7790" y="233505"/>
                  </a:lnTo>
                  <a:lnTo>
                    <a:pt x="217" y="189864"/>
                  </a:lnTo>
                  <a:lnTo>
                    <a:pt x="0" y="180974"/>
                  </a:lnTo>
                  <a:lnTo>
                    <a:pt x="217" y="172082"/>
                  </a:lnTo>
                  <a:lnTo>
                    <a:pt x="7790" y="128435"/>
                  </a:lnTo>
                  <a:lnTo>
                    <a:pt x="25740" y="87938"/>
                  </a:lnTo>
                  <a:lnTo>
                    <a:pt x="53006" y="53003"/>
                  </a:lnTo>
                  <a:lnTo>
                    <a:pt x="87943" y="25737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7"/>
                  </a:lnTo>
                  <a:lnTo>
                    <a:pt x="274005" y="25736"/>
                  </a:lnTo>
                  <a:lnTo>
                    <a:pt x="308943" y="53003"/>
                  </a:lnTo>
                  <a:lnTo>
                    <a:pt x="336208" y="87939"/>
                  </a:lnTo>
                  <a:lnTo>
                    <a:pt x="354159" y="128435"/>
                  </a:lnTo>
                  <a:lnTo>
                    <a:pt x="361732" y="172082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802729" y="6511925"/>
            <a:ext cx="2044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5" b="1">
                <a:solidFill>
                  <a:srgbClr val="3B81F5"/>
                </a:solidFill>
                <a:latin typeface="Trebuchet MS"/>
                <a:cs typeface="Trebuchet MS"/>
              </a:rPr>
              <a:t>05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290637" y="6453185"/>
            <a:ext cx="5562600" cy="819150"/>
          </a:xfrm>
          <a:prstGeom prst="rect">
            <a:avLst/>
          </a:prstGeom>
          <a:solidFill>
            <a:srgbClr val="FFFFFF">
              <a:alpha val="3138"/>
            </a:srgbClr>
          </a:solidFill>
          <a:ln w="9524">
            <a:solidFill>
              <a:srgbClr val="37405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235"/>
              </a:spcBef>
            </a:pPr>
            <a:r>
              <a:rPr dirty="0" sz="1350" spc="-114" b="1">
                <a:solidFill>
                  <a:srgbClr val="3B81F5"/>
                </a:solidFill>
                <a:latin typeface="Trebuchet MS"/>
                <a:cs typeface="Trebuchet MS"/>
              </a:rPr>
              <a:t>TERMINAL</a:t>
            </a:r>
            <a:r>
              <a:rPr dirty="0" sz="1350" spc="-40" b="1">
                <a:solidFill>
                  <a:srgbClr val="3B81F5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3B81F5"/>
                </a:solidFill>
                <a:latin typeface="Trebuchet MS"/>
                <a:cs typeface="Trebuchet MS"/>
              </a:rPr>
              <a:t>STRIKE</a:t>
            </a:r>
            <a:endParaRPr sz="1350">
              <a:latin typeface="Trebuchet MS"/>
              <a:cs typeface="Trebuchet MS"/>
            </a:endParaRPr>
          </a:p>
          <a:p>
            <a:pPr marL="147320">
              <a:lnSpc>
                <a:spcPct val="100000"/>
              </a:lnSpc>
              <a:spcBef>
                <a:spcPts val="680"/>
              </a:spcBef>
            </a:pP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Vertical</a:t>
            </a:r>
            <a:r>
              <a:rPr dirty="0" sz="1150" spc="-3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dive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5">
                <a:solidFill>
                  <a:srgbClr val="F9FAFA"/>
                </a:solidFill>
                <a:latin typeface="Trebuchet MS"/>
                <a:cs typeface="Trebuchet MS"/>
              </a:rPr>
              <a:t>maneuver.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0">
                <a:solidFill>
                  <a:srgbClr val="F9FAFA"/>
                </a:solidFill>
                <a:latin typeface="Trebuchet MS"/>
                <a:cs typeface="Trebuchet MS"/>
              </a:rPr>
              <a:t>Kinetic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impact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80">
                <a:solidFill>
                  <a:srgbClr val="F9FAFA"/>
                </a:solidFill>
                <a:latin typeface="Trebuchet MS"/>
                <a:cs typeface="Trebuchet MS"/>
              </a:rPr>
              <a:t>or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0">
                <a:solidFill>
                  <a:srgbClr val="F9FAFA"/>
                </a:solidFill>
                <a:latin typeface="Trebuchet MS"/>
                <a:cs typeface="Trebuchet MS"/>
              </a:rPr>
              <a:t>warhead</a:t>
            </a:r>
            <a:r>
              <a:rPr dirty="0" sz="1150" spc="-3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detonation.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0">
                <a:solidFill>
                  <a:srgbClr val="F9FAFA"/>
                </a:solidFill>
                <a:latin typeface="Trebuchet MS"/>
                <a:cs typeface="Trebuchet MS"/>
              </a:rPr>
              <a:t>Precision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50">
                <a:solidFill>
                  <a:srgbClr val="F9FAFA"/>
                </a:solidFill>
                <a:latin typeface="Trebuchet MS"/>
                <a:cs typeface="Trebuchet MS"/>
              </a:rPr>
              <a:t>&lt;5m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20">
                <a:solidFill>
                  <a:srgbClr val="F9FAFA"/>
                </a:solidFill>
                <a:latin typeface="Trebuchet MS"/>
                <a:cs typeface="Trebuchet MS"/>
              </a:rPr>
              <a:t>CEP.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714374" y="7467598"/>
            <a:ext cx="381000" cy="381000"/>
            <a:chOff x="714374" y="7467598"/>
            <a:chExt cx="381000" cy="381000"/>
          </a:xfrm>
        </p:grpSpPr>
        <p:sp>
          <p:nvSpPr>
            <p:cNvPr id="42" name="object 42" descr=""/>
            <p:cNvSpPr/>
            <p:nvPr/>
          </p:nvSpPr>
          <p:spPr>
            <a:xfrm>
              <a:off x="723899" y="7477123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180974" y="361949"/>
                  </a:moveTo>
                  <a:lnTo>
                    <a:pt x="136990" y="356522"/>
                  </a:lnTo>
                  <a:lnTo>
                    <a:pt x="95662" y="340579"/>
                  </a:lnTo>
                  <a:lnTo>
                    <a:pt x="59446" y="315073"/>
                  </a:lnTo>
                  <a:lnTo>
                    <a:pt x="30499" y="281513"/>
                  </a:lnTo>
                  <a:lnTo>
                    <a:pt x="10574" y="241928"/>
                  </a:lnTo>
                  <a:lnTo>
                    <a:pt x="869" y="198712"/>
                  </a:lnTo>
                  <a:lnTo>
                    <a:pt x="0" y="180974"/>
                  </a:lnTo>
                  <a:lnTo>
                    <a:pt x="217" y="172083"/>
                  </a:lnTo>
                  <a:lnTo>
                    <a:pt x="7790" y="128437"/>
                  </a:lnTo>
                  <a:lnTo>
                    <a:pt x="25740" y="87943"/>
                  </a:lnTo>
                  <a:lnTo>
                    <a:pt x="53006" y="53005"/>
                  </a:lnTo>
                  <a:lnTo>
                    <a:pt x="87943" y="25733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9"/>
                  </a:lnTo>
                  <a:lnTo>
                    <a:pt x="274005" y="25733"/>
                  </a:lnTo>
                  <a:lnTo>
                    <a:pt x="308943" y="53005"/>
                  </a:lnTo>
                  <a:lnTo>
                    <a:pt x="336208" y="87943"/>
                  </a:lnTo>
                  <a:lnTo>
                    <a:pt x="354159" y="128437"/>
                  </a:lnTo>
                  <a:lnTo>
                    <a:pt x="361732" y="172083"/>
                  </a:lnTo>
                  <a:lnTo>
                    <a:pt x="361949" y="180974"/>
                  </a:lnTo>
                  <a:lnTo>
                    <a:pt x="361732" y="189865"/>
                  </a:lnTo>
                  <a:lnTo>
                    <a:pt x="354159" y="233504"/>
                  </a:lnTo>
                  <a:lnTo>
                    <a:pt x="336208" y="273998"/>
                  </a:lnTo>
                  <a:lnTo>
                    <a:pt x="308943" y="308939"/>
                  </a:lnTo>
                  <a:lnTo>
                    <a:pt x="274005" y="336205"/>
                  </a:lnTo>
                  <a:lnTo>
                    <a:pt x="233509" y="354155"/>
                  </a:lnTo>
                  <a:lnTo>
                    <a:pt x="189865" y="361732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23899" y="7477123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61949" y="180974"/>
                  </a:moveTo>
                  <a:lnTo>
                    <a:pt x="356524" y="224954"/>
                  </a:lnTo>
                  <a:lnTo>
                    <a:pt x="340582" y="266279"/>
                  </a:lnTo>
                  <a:lnTo>
                    <a:pt x="315076" y="302498"/>
                  </a:lnTo>
                  <a:lnTo>
                    <a:pt x="281519" y="331445"/>
                  </a:lnTo>
                  <a:lnTo>
                    <a:pt x="241933" y="351371"/>
                  </a:lnTo>
                  <a:lnTo>
                    <a:pt x="198713" y="361080"/>
                  </a:lnTo>
                  <a:lnTo>
                    <a:pt x="180974" y="361949"/>
                  </a:lnTo>
                  <a:lnTo>
                    <a:pt x="172084" y="361732"/>
                  </a:lnTo>
                  <a:lnTo>
                    <a:pt x="128439" y="354155"/>
                  </a:lnTo>
                  <a:lnTo>
                    <a:pt x="87943" y="336205"/>
                  </a:lnTo>
                  <a:lnTo>
                    <a:pt x="53006" y="308939"/>
                  </a:lnTo>
                  <a:lnTo>
                    <a:pt x="25740" y="273998"/>
                  </a:lnTo>
                  <a:lnTo>
                    <a:pt x="7790" y="233504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3"/>
                  </a:lnTo>
                  <a:lnTo>
                    <a:pt x="7790" y="128437"/>
                  </a:lnTo>
                  <a:lnTo>
                    <a:pt x="25740" y="87943"/>
                  </a:lnTo>
                  <a:lnTo>
                    <a:pt x="53006" y="53005"/>
                  </a:lnTo>
                  <a:lnTo>
                    <a:pt x="87943" y="25733"/>
                  </a:lnTo>
                  <a:lnTo>
                    <a:pt x="128439" y="7789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89"/>
                  </a:lnTo>
                  <a:lnTo>
                    <a:pt x="274005" y="25733"/>
                  </a:lnTo>
                  <a:lnTo>
                    <a:pt x="308943" y="53005"/>
                  </a:lnTo>
                  <a:lnTo>
                    <a:pt x="336208" y="87943"/>
                  </a:lnTo>
                  <a:lnTo>
                    <a:pt x="354159" y="128437"/>
                  </a:lnTo>
                  <a:lnTo>
                    <a:pt x="361732" y="172083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801092" y="7531100"/>
            <a:ext cx="2076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5" b="1">
                <a:solidFill>
                  <a:srgbClr val="3B81F5"/>
                </a:solidFill>
                <a:latin typeface="Trebuchet MS"/>
                <a:cs typeface="Trebuchet MS"/>
              </a:rPr>
              <a:t>06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290637" y="7472360"/>
            <a:ext cx="5562600" cy="819150"/>
          </a:xfrm>
          <a:prstGeom prst="rect">
            <a:avLst/>
          </a:prstGeom>
          <a:solidFill>
            <a:srgbClr val="FFFFFF">
              <a:alpha val="3138"/>
            </a:srgbClr>
          </a:solidFill>
          <a:ln w="9524">
            <a:solidFill>
              <a:srgbClr val="374050"/>
            </a:solidFill>
          </a:ln>
        </p:spPr>
        <p:txBody>
          <a:bodyPr wrap="square" lIns="0" tIns="156845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1235"/>
              </a:spcBef>
            </a:pPr>
            <a:r>
              <a:rPr dirty="0" sz="1350" spc="-35" b="1">
                <a:solidFill>
                  <a:srgbClr val="3B81F5"/>
                </a:solidFill>
                <a:latin typeface="Trebuchet MS"/>
                <a:cs typeface="Trebuchet MS"/>
              </a:rPr>
              <a:t>AFTERMATH</a:t>
            </a:r>
            <a:endParaRPr sz="1350">
              <a:latin typeface="Trebuchet MS"/>
              <a:cs typeface="Trebuchet MS"/>
            </a:endParaRPr>
          </a:p>
          <a:p>
            <a:pPr marL="147320">
              <a:lnSpc>
                <a:spcPct val="100000"/>
              </a:lnSpc>
              <a:spcBef>
                <a:spcPts val="680"/>
              </a:spcBef>
            </a:pPr>
            <a:r>
              <a:rPr dirty="0" sz="1150" spc="-55">
                <a:solidFill>
                  <a:srgbClr val="F9FAFA"/>
                </a:solidFill>
                <a:latin typeface="Trebuchet MS"/>
                <a:cs typeface="Trebuchet MS"/>
              </a:rPr>
              <a:t>Damage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30">
                <a:solidFill>
                  <a:srgbClr val="F9FAFA"/>
                </a:solidFill>
                <a:latin typeface="Trebuchet MS"/>
                <a:cs typeface="Trebuchet MS"/>
              </a:rPr>
              <a:t>assessment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0">
                <a:solidFill>
                  <a:srgbClr val="F9FAFA"/>
                </a:solidFill>
                <a:latin typeface="Trebuchet MS"/>
                <a:cs typeface="Trebuchet MS"/>
              </a:rPr>
              <a:t>transmission.</a:t>
            </a:r>
            <a:r>
              <a:rPr dirty="0" sz="115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25">
                <a:solidFill>
                  <a:srgbClr val="F9FAFA"/>
                </a:solidFill>
                <a:latin typeface="Trebuchet MS"/>
                <a:cs typeface="Trebuchet MS"/>
              </a:rPr>
              <a:t>System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0">
                <a:solidFill>
                  <a:srgbClr val="F9FAFA"/>
                </a:solidFill>
                <a:latin typeface="Trebuchet MS"/>
                <a:cs typeface="Trebuchet MS"/>
              </a:rPr>
              <a:t>self-</a:t>
            </a:r>
            <a:r>
              <a:rPr dirty="0" sz="1150" spc="-65">
                <a:solidFill>
                  <a:srgbClr val="F9FAFA"/>
                </a:solidFill>
                <a:latin typeface="Trebuchet MS"/>
                <a:cs typeface="Trebuchet MS"/>
              </a:rPr>
              <a:t>destruct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75">
                <a:solidFill>
                  <a:srgbClr val="F9FAFA"/>
                </a:solidFill>
                <a:latin typeface="Trebuchet MS"/>
                <a:cs typeface="Trebuchet MS"/>
              </a:rPr>
              <a:t>of</a:t>
            </a:r>
            <a:r>
              <a:rPr dirty="0" sz="115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65">
                <a:solidFill>
                  <a:srgbClr val="F9FAFA"/>
                </a:solidFill>
                <a:latin typeface="Trebuchet MS"/>
                <a:cs typeface="Trebuchet MS"/>
              </a:rPr>
              <a:t>classified</a:t>
            </a:r>
            <a:r>
              <a:rPr dirty="0" sz="11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150" spc="-10">
                <a:solidFill>
                  <a:srgbClr val="F9FAFA"/>
                </a:solidFill>
                <a:latin typeface="Trebuchet MS"/>
                <a:cs typeface="Trebuchet MS"/>
              </a:rPr>
              <a:t>components.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9099" y="-1"/>
            <a:ext cx="6734175" cy="7981950"/>
            <a:chOff x="419099" y="-1"/>
            <a:chExt cx="6734175" cy="7981950"/>
          </a:xfrm>
        </p:grpSpPr>
        <p:sp>
          <p:nvSpPr>
            <p:cNvPr id="3" name="object 3" descr=""/>
            <p:cNvSpPr/>
            <p:nvPr/>
          </p:nvSpPr>
          <p:spPr>
            <a:xfrm>
              <a:off x="419099" y="-1"/>
              <a:ext cx="6734175" cy="7981950"/>
            </a:xfrm>
            <a:custGeom>
              <a:avLst/>
              <a:gdLst/>
              <a:ahLst/>
              <a:cxnLst/>
              <a:rect l="l" t="t" r="r" b="b"/>
              <a:pathLst>
                <a:path w="6734175" h="7981950">
                  <a:moveTo>
                    <a:pt x="6734174" y="7981949"/>
                  </a:moveTo>
                  <a:lnTo>
                    <a:pt x="0" y="7981949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7981949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23862" y="4760"/>
              <a:ext cx="6724650" cy="7972425"/>
            </a:xfrm>
            <a:custGeom>
              <a:avLst/>
              <a:gdLst/>
              <a:ahLst/>
              <a:cxnLst/>
              <a:rect l="l" t="t" r="r" b="b"/>
              <a:pathLst>
                <a:path w="6724650" h="7972425">
                  <a:moveTo>
                    <a:pt x="0" y="0"/>
                  </a:moveTo>
                  <a:lnTo>
                    <a:pt x="6724649" y="0"/>
                  </a:lnTo>
                  <a:lnTo>
                    <a:pt x="6724649" y="7972424"/>
                  </a:lnTo>
                  <a:lnTo>
                    <a:pt x="0" y="79724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4374" y="600073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424" y="2152648"/>
              <a:ext cx="6124574" cy="190499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714362" y="2152649"/>
              <a:ext cx="6143625" cy="1924050"/>
            </a:xfrm>
            <a:custGeom>
              <a:avLst/>
              <a:gdLst/>
              <a:ahLst/>
              <a:cxnLst/>
              <a:rect l="l" t="t" r="r" b="b"/>
              <a:pathLst>
                <a:path w="6143625" h="1924050">
                  <a:moveTo>
                    <a:pt x="6143625" y="1905000"/>
                  </a:moveTo>
                  <a:lnTo>
                    <a:pt x="19050" y="1905000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1905000"/>
                  </a:lnTo>
                  <a:lnTo>
                    <a:pt x="0" y="1924050"/>
                  </a:lnTo>
                  <a:lnTo>
                    <a:pt x="19050" y="1924050"/>
                  </a:lnTo>
                  <a:lnTo>
                    <a:pt x="6143625" y="1924050"/>
                  </a:lnTo>
                  <a:lnTo>
                    <a:pt x="6143625" y="1905000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14374" y="7400922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01674" y="288290"/>
            <a:ext cx="13582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SECTION: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ANALYTICS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09009" y="288290"/>
            <a:ext cx="106172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DATA:</a:t>
            </a:r>
            <a:r>
              <a:rPr dirty="0" sz="1050" spc="10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VERIFIED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>
                <a:solidFill>
                  <a:srgbClr val="EF4444"/>
                </a:solidFill>
              </a:rPr>
              <a:t>PERFORMANCE</a:t>
            </a:r>
            <a:r>
              <a:rPr dirty="0" spc="-370">
                <a:solidFill>
                  <a:srgbClr val="EF4444"/>
                </a:solidFill>
              </a:rPr>
              <a:t>  </a:t>
            </a:r>
            <a:r>
              <a:rPr dirty="0" spc="-10">
                <a:solidFill>
                  <a:srgbClr val="EF4444"/>
                </a:solidFill>
              </a:rPr>
              <a:t>METRICS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701674" y="1511300"/>
            <a:ext cx="44272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80">
                <a:solidFill>
                  <a:srgbClr val="415461"/>
                </a:solidFill>
                <a:latin typeface="Trebuchet MS"/>
                <a:cs typeface="Trebuchet MS"/>
              </a:rPr>
              <a:t>Comparative</a:t>
            </a:r>
            <a:r>
              <a:rPr dirty="0" sz="1350" spc="-30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415461"/>
                </a:solidFill>
                <a:latin typeface="Trebuchet MS"/>
                <a:cs typeface="Trebuchet MS"/>
              </a:rPr>
              <a:t>analysis</a:t>
            </a:r>
            <a:r>
              <a:rPr dirty="0" sz="1350" spc="-30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40">
                <a:solidFill>
                  <a:srgbClr val="415461"/>
                </a:solidFill>
                <a:latin typeface="Trebuchet MS"/>
                <a:cs typeface="Trebuchet MS"/>
              </a:rPr>
              <a:t>against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415461"/>
                </a:solidFill>
                <a:latin typeface="Trebuchet MS"/>
                <a:cs typeface="Trebuchet MS"/>
              </a:rPr>
              <a:t>standard</a:t>
            </a:r>
            <a:r>
              <a:rPr dirty="0" sz="1350" spc="-30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110">
                <a:solidFill>
                  <a:srgbClr val="415461"/>
                </a:solidFill>
                <a:latin typeface="Trebuchet MS"/>
                <a:cs typeface="Trebuchet MS"/>
              </a:rPr>
              <a:t>Gen-</a:t>
            </a:r>
            <a:r>
              <a:rPr dirty="0" sz="1350">
                <a:solidFill>
                  <a:srgbClr val="415461"/>
                </a:solidFill>
                <a:latin typeface="Trebuchet MS"/>
                <a:cs typeface="Trebuchet MS"/>
              </a:rPr>
              <a:t>4</a:t>
            </a:r>
            <a:r>
              <a:rPr dirty="0" sz="1350" spc="-2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80">
                <a:solidFill>
                  <a:srgbClr val="415461"/>
                </a:solidFill>
                <a:latin typeface="Trebuchet MS"/>
                <a:cs typeface="Trebuchet MS"/>
              </a:rPr>
              <a:t>Ballistic</a:t>
            </a:r>
            <a:r>
              <a:rPr dirty="0" sz="1350" spc="-30">
                <a:solidFill>
                  <a:srgbClr val="415461"/>
                </a:solidFill>
                <a:latin typeface="Trebuchet MS"/>
                <a:cs typeface="Trebuchet MS"/>
              </a:rPr>
              <a:t> Systems.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23925" y="2328545"/>
            <a:ext cx="74168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200" spc="-95">
                <a:solidFill>
                  <a:srgbClr val="9CA2AF"/>
                </a:solidFill>
                <a:latin typeface="Trebuchet MS"/>
                <a:cs typeface="Trebuchet MS"/>
              </a:rPr>
              <a:t>RANGE</a:t>
            </a:r>
            <a:r>
              <a:rPr dirty="0" sz="1200" spc="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9CA2AF"/>
                </a:solidFill>
                <a:latin typeface="Trebuchet MS"/>
                <a:cs typeface="Trebuchet MS"/>
              </a:rPr>
              <a:t>(KM)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23925" y="2709545"/>
            <a:ext cx="90424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200" spc="-25">
                <a:solidFill>
                  <a:srgbClr val="9CA2AF"/>
                </a:solidFill>
                <a:latin typeface="Trebuchet MS"/>
                <a:cs typeface="Trebuchet MS"/>
              </a:rPr>
              <a:t>SPEED</a:t>
            </a:r>
            <a:r>
              <a:rPr dirty="0" sz="1200" spc="-5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60">
                <a:solidFill>
                  <a:srgbClr val="9CA2AF"/>
                </a:solidFill>
                <a:latin typeface="Trebuchet MS"/>
                <a:cs typeface="Trebuchet MS"/>
              </a:rPr>
              <a:t>(MACH)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23925" y="3090545"/>
            <a:ext cx="1198245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200" spc="-85">
                <a:solidFill>
                  <a:srgbClr val="9CA2AF"/>
                </a:solidFill>
                <a:latin typeface="Trebuchet MS"/>
                <a:cs typeface="Trebuchet MS"/>
              </a:rPr>
              <a:t>ACCURACY</a:t>
            </a:r>
            <a:r>
              <a:rPr dirty="0" sz="1200" spc="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75">
                <a:solidFill>
                  <a:srgbClr val="9CA2AF"/>
                </a:solidFill>
                <a:latin typeface="Trebuchet MS"/>
                <a:cs typeface="Trebuchet MS"/>
              </a:rPr>
              <a:t>(CEP</a:t>
            </a:r>
            <a:r>
              <a:rPr dirty="0" sz="1200" spc="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25">
                <a:solidFill>
                  <a:srgbClr val="9CA2AF"/>
                </a:solidFill>
                <a:latin typeface="Trebuchet MS"/>
                <a:cs typeface="Trebuchet MS"/>
              </a:rPr>
              <a:t>m)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23925" y="3471545"/>
            <a:ext cx="1032510" cy="2108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1200" spc="-30">
                <a:solidFill>
                  <a:srgbClr val="9CA2AF"/>
                </a:solidFill>
                <a:latin typeface="Trebuchet MS"/>
                <a:cs typeface="Trebuchet MS"/>
              </a:rPr>
              <a:t>RESPONSE</a:t>
            </a:r>
            <a:r>
              <a:rPr dirty="0" sz="1200" spc="-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200" spc="-45">
                <a:solidFill>
                  <a:srgbClr val="9CA2AF"/>
                </a:solidFill>
                <a:latin typeface="Trebuchet MS"/>
                <a:cs typeface="Trebuchet MS"/>
              </a:rPr>
              <a:t>(MIN)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01674" y="4435759"/>
            <a:ext cx="1428115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10">
                <a:solidFill>
                  <a:srgbClr val="F9FAFA"/>
                </a:solidFill>
                <a:latin typeface="Consolas"/>
                <a:cs typeface="Consolas"/>
              </a:rPr>
              <a:t>TECHNICAL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280917" y="4435759"/>
            <a:ext cx="2217420" cy="356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10">
                <a:solidFill>
                  <a:srgbClr val="F9FAFA"/>
                </a:solidFill>
                <a:latin typeface="Consolas"/>
                <a:cs typeface="Consolas"/>
              </a:rPr>
              <a:t>SPECIFICATIONS</a:t>
            </a:r>
            <a:endParaRPr sz="2150">
              <a:latin typeface="Consolas"/>
              <a:cs typeface="Consolas"/>
            </a:endParaRPr>
          </a:p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714374" y="5038723"/>
          <a:ext cx="6219825" cy="206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175"/>
                <a:gridCol w="2314575"/>
                <a:gridCol w="2419350"/>
              </a:tblGrid>
              <a:tr h="45656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350" spc="-10">
                          <a:solidFill>
                            <a:srgbClr val="3B81F5"/>
                          </a:solidFill>
                          <a:latin typeface="Trebuchet MS"/>
                          <a:cs typeface="Trebuchet MS"/>
                        </a:rPr>
                        <a:t>PARAMETER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09220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FFFFFF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350" spc="-10">
                          <a:solidFill>
                            <a:srgbClr val="3B81F5"/>
                          </a:solidFill>
                          <a:latin typeface="Trebuchet MS"/>
                          <a:cs typeface="Trebuchet MS"/>
                        </a:rPr>
                        <a:t>SPECIFICATION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09220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FFFFFF">
                        <a:alpha val="50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350" spc="-10">
                          <a:solidFill>
                            <a:srgbClr val="3B81F5"/>
                          </a:solidFill>
                          <a:latin typeface="Trebuchet MS"/>
                          <a:cs typeface="Trebuchet MS"/>
                        </a:rPr>
                        <a:t>NOTES</a:t>
                      </a:r>
                      <a:endParaRPr sz="1350">
                        <a:latin typeface="Trebuchet MS"/>
                        <a:cs typeface="Trebuchet MS"/>
                      </a:endParaRPr>
                    </a:p>
                  </a:txBody>
                  <a:tcPr marL="0" marR="0" marB="0" marT="109220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FFFFFF">
                        <a:alpha val="5099"/>
                      </a:srgbClr>
                    </a:solidFill>
                  </a:tcPr>
                </a:tc>
              </a:tr>
              <a:tr h="39941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Propulsion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4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Solid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7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Fuel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+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Scramjet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6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Dual-</a:t>
                      </a:r>
                      <a:r>
                        <a:rPr dirty="0" sz="1050" spc="-2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stage </a:t>
                      </a:r>
                      <a:r>
                        <a:rPr dirty="0" sz="1050" spc="-6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hybrid</a:t>
                      </a:r>
                      <a:r>
                        <a:rPr dirty="0" sz="1050" spc="-1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engine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</a:tr>
              <a:tr h="39941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Guidance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INS</a:t>
                      </a:r>
                      <a:r>
                        <a:rPr dirty="0" sz="1050" spc="-3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4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dirty="0" sz="1050" spc="-3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2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GPS</a:t>
                      </a:r>
                      <a:r>
                        <a:rPr dirty="0" sz="1050" spc="-3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4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dirty="0" sz="1050" spc="-3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3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Star-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Tracker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6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Quantum-</a:t>
                      </a:r>
                      <a:r>
                        <a:rPr dirty="0" sz="1050" spc="-4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resistant</a:t>
                      </a:r>
                      <a:r>
                        <a:rPr dirty="0" sz="1050" spc="2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encryption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</a:tr>
              <a:tr h="40894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Payload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2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500kg</a:t>
                      </a:r>
                      <a:r>
                        <a:rPr dirty="0" sz="1050" spc="-3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6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050" spc="-3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1500kg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6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Conventional</a:t>
                      </a:r>
                      <a:r>
                        <a:rPr dirty="0" sz="1050" spc="-1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4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dirty="0" sz="1050" spc="-1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7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Nuclear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capable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</a:tr>
              <a:tr h="39941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6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Launch</a:t>
                      </a:r>
                      <a:r>
                        <a:rPr dirty="0" sz="1050" spc="2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Platform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6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Mobile</a:t>
                      </a:r>
                      <a:r>
                        <a:rPr dirty="0" sz="1050" spc="-3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TEL</a:t>
                      </a:r>
                      <a:r>
                        <a:rPr dirty="0" sz="1050" spc="-3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4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dirty="0" sz="1050" spc="-3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Silo </a:t>
                      </a:r>
                      <a:r>
                        <a:rPr dirty="0" sz="1050" spc="-14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/</a:t>
                      </a:r>
                      <a:r>
                        <a:rPr dirty="0" sz="1050" spc="-3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Submarine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dirty="0" sz="1050" spc="-6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Universal</a:t>
                      </a:r>
                      <a:r>
                        <a:rPr dirty="0" sz="1050" spc="5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050" spc="-10">
                          <a:solidFill>
                            <a:srgbClr val="415461"/>
                          </a:solidFill>
                          <a:latin typeface="Trebuchet MS"/>
                          <a:cs typeface="Trebuchet MS"/>
                        </a:rPr>
                        <a:t>compatibility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B="0" marT="99695">
                    <a:lnL w="9525">
                      <a:solidFill>
                        <a:srgbClr val="374050"/>
                      </a:solidFill>
                      <a:prstDash val="solid"/>
                    </a:lnL>
                    <a:lnR w="9525">
                      <a:solidFill>
                        <a:srgbClr val="374050"/>
                      </a:solidFill>
                      <a:prstDash val="solid"/>
                    </a:lnR>
                    <a:lnT w="9525">
                      <a:solidFill>
                        <a:srgbClr val="374050"/>
                      </a:solidFill>
                      <a:prstDash val="solid"/>
                    </a:lnT>
                    <a:lnB w="9525">
                      <a:solidFill>
                        <a:srgbClr val="374050"/>
                      </a:solidFill>
                      <a:prstDash val="solid"/>
                    </a:lnB>
                    <a:solidFill>
                      <a:srgbClr val="111726">
                        <a:alpha val="79998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0" name="object 20" descr=""/>
          <p:cNvSpPr txBox="1"/>
          <p:nvPr/>
        </p:nvSpPr>
        <p:spPr>
          <a:xfrm>
            <a:off x="701674" y="7496809"/>
            <a:ext cx="1932939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ADVANCED</a:t>
            </a:r>
            <a:r>
              <a:rPr dirty="0" sz="9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9CA2AF"/>
                </a:solidFill>
                <a:latin typeface="Trebuchet MS"/>
                <a:cs typeface="Trebuchet MS"/>
              </a:rPr>
              <a:t>DEFENSE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SYSTEMS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DIVISION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14861" y="7496809"/>
            <a:ext cx="740410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85">
                <a:solidFill>
                  <a:srgbClr val="9CA2AF"/>
                </a:solidFill>
                <a:latin typeface="Trebuchet MS"/>
                <a:cs typeface="Trebuchet MS"/>
              </a:rPr>
              <a:t>PAGE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04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 08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735191" y="7496809"/>
            <a:ext cx="11360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40">
                <a:solidFill>
                  <a:srgbClr val="9CA2AF"/>
                </a:solidFill>
                <a:latin typeface="Trebuchet MS"/>
                <a:cs typeface="Trebuchet MS"/>
              </a:rPr>
              <a:t>CLASSIFIED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70">
                <a:solidFill>
                  <a:srgbClr val="9CA2AF"/>
                </a:solidFill>
                <a:latin typeface="Trebuchet MS"/>
                <a:cs typeface="Trebuchet MS"/>
              </a:rPr>
              <a:t>DOCUMENT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28624" y="9523"/>
            <a:ext cx="6238875" cy="2571750"/>
            <a:chOff x="428624" y="9523"/>
            <a:chExt cx="6238875" cy="2571750"/>
          </a:xfrm>
        </p:grpSpPr>
        <p:sp>
          <p:nvSpPr>
            <p:cNvPr id="24" name="object 24" descr=""/>
            <p:cNvSpPr/>
            <p:nvPr/>
          </p:nvSpPr>
          <p:spPr>
            <a:xfrm>
              <a:off x="428612" y="952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190500"/>
                  </a:lnTo>
                  <a:lnTo>
                    <a:pt x="19050" y="190500"/>
                  </a:lnTo>
                  <a:lnTo>
                    <a:pt x="19050" y="19050"/>
                  </a:lnTo>
                  <a:lnTo>
                    <a:pt x="190500" y="190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019799" y="2343148"/>
              <a:ext cx="647700" cy="238125"/>
            </a:xfrm>
            <a:custGeom>
              <a:avLst/>
              <a:gdLst/>
              <a:ahLst/>
              <a:cxnLst/>
              <a:rect l="l" t="t" r="r" b="b"/>
              <a:pathLst>
                <a:path w="647700" h="238125">
                  <a:moveTo>
                    <a:pt x="0" y="238124"/>
                  </a:moveTo>
                  <a:lnTo>
                    <a:pt x="647699" y="238124"/>
                  </a:lnTo>
                  <a:lnTo>
                    <a:pt x="647699" y="0"/>
                  </a:lnTo>
                  <a:lnTo>
                    <a:pt x="0" y="0"/>
                  </a:lnTo>
                  <a:lnTo>
                    <a:pt x="0" y="2381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2674" y="2343148"/>
              <a:ext cx="3667124" cy="238124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5557241" y="2345689"/>
            <a:ext cx="38100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050" spc="-30" b="1">
                <a:solidFill>
                  <a:srgbClr val="FFFFFF"/>
                </a:solidFill>
                <a:latin typeface="Trebuchet MS"/>
                <a:cs typeface="Trebuchet MS"/>
              </a:rPr>
              <a:t>3000+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352674" y="2724148"/>
            <a:ext cx="4314825" cy="238125"/>
            <a:chOff x="2352674" y="2724148"/>
            <a:chExt cx="4314825" cy="238125"/>
          </a:xfrm>
        </p:grpSpPr>
        <p:sp>
          <p:nvSpPr>
            <p:cNvPr id="29" name="object 29" descr=""/>
            <p:cNvSpPr/>
            <p:nvPr/>
          </p:nvSpPr>
          <p:spPr>
            <a:xfrm>
              <a:off x="6448424" y="2724148"/>
              <a:ext cx="219075" cy="238125"/>
            </a:xfrm>
            <a:custGeom>
              <a:avLst/>
              <a:gdLst/>
              <a:ahLst/>
              <a:cxnLst/>
              <a:rect l="l" t="t" r="r" b="b"/>
              <a:pathLst>
                <a:path w="219075" h="238125">
                  <a:moveTo>
                    <a:pt x="0" y="238124"/>
                  </a:moveTo>
                  <a:lnTo>
                    <a:pt x="219074" y="238124"/>
                  </a:lnTo>
                  <a:lnTo>
                    <a:pt x="219074" y="0"/>
                  </a:lnTo>
                  <a:lnTo>
                    <a:pt x="0" y="0"/>
                  </a:lnTo>
                  <a:lnTo>
                    <a:pt x="0" y="2381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52674" y="2724148"/>
              <a:ext cx="4095749" cy="238124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6184701" y="2726689"/>
            <a:ext cx="1847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050" spc="-75" b="1">
                <a:solidFill>
                  <a:srgbClr val="FFFFFF"/>
                </a:solidFill>
                <a:latin typeface="Trebuchet MS"/>
                <a:cs typeface="Trebuchet MS"/>
              </a:rPr>
              <a:t>8.5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2352674" y="3105148"/>
            <a:ext cx="4314825" cy="238125"/>
            <a:chOff x="2352674" y="3105148"/>
            <a:chExt cx="4314825" cy="238125"/>
          </a:xfrm>
        </p:grpSpPr>
        <p:sp>
          <p:nvSpPr>
            <p:cNvPr id="33" name="object 33" descr=""/>
            <p:cNvSpPr/>
            <p:nvPr/>
          </p:nvSpPr>
          <p:spPr>
            <a:xfrm>
              <a:off x="3000374" y="3105148"/>
              <a:ext cx="3667125" cy="238125"/>
            </a:xfrm>
            <a:custGeom>
              <a:avLst/>
              <a:gdLst/>
              <a:ahLst/>
              <a:cxnLst/>
              <a:rect l="l" t="t" r="r" b="b"/>
              <a:pathLst>
                <a:path w="3667125" h="238125">
                  <a:moveTo>
                    <a:pt x="0" y="238124"/>
                  </a:moveTo>
                  <a:lnTo>
                    <a:pt x="3667124" y="238124"/>
                  </a:lnTo>
                  <a:lnTo>
                    <a:pt x="3667124" y="0"/>
                  </a:lnTo>
                  <a:lnTo>
                    <a:pt x="0" y="0"/>
                  </a:lnTo>
                  <a:lnTo>
                    <a:pt x="0" y="2381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2674" y="3105148"/>
              <a:ext cx="647699" cy="238124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2757933" y="3107689"/>
            <a:ext cx="1593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FFFFFF"/>
                </a:solidFill>
                <a:latin typeface="Trebuchet MS"/>
                <a:cs typeface="Trebuchet MS"/>
              </a:rPr>
              <a:t>&lt;5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2352674" y="3486148"/>
            <a:ext cx="4314825" cy="238125"/>
            <a:chOff x="2352674" y="3486148"/>
            <a:chExt cx="4314825" cy="238125"/>
          </a:xfrm>
        </p:grpSpPr>
        <p:sp>
          <p:nvSpPr>
            <p:cNvPr id="37" name="object 37" descr=""/>
            <p:cNvSpPr/>
            <p:nvPr/>
          </p:nvSpPr>
          <p:spPr>
            <a:xfrm>
              <a:off x="3428999" y="3486148"/>
              <a:ext cx="3238500" cy="238125"/>
            </a:xfrm>
            <a:custGeom>
              <a:avLst/>
              <a:gdLst/>
              <a:ahLst/>
              <a:cxnLst/>
              <a:rect l="l" t="t" r="r" b="b"/>
              <a:pathLst>
                <a:path w="3238500" h="238125">
                  <a:moveTo>
                    <a:pt x="0" y="238124"/>
                  </a:moveTo>
                  <a:lnTo>
                    <a:pt x="3238499" y="238124"/>
                  </a:lnTo>
                  <a:lnTo>
                    <a:pt x="3238499" y="0"/>
                  </a:lnTo>
                  <a:lnTo>
                    <a:pt x="0" y="0"/>
                  </a:lnTo>
                  <a:lnTo>
                    <a:pt x="0" y="2381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4" y="3486148"/>
              <a:ext cx="1076324" cy="238124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3189088" y="3488690"/>
            <a:ext cx="16002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FFFFFF"/>
                </a:solidFill>
                <a:latin typeface="Trebuchet MS"/>
                <a:cs typeface="Trebuchet MS"/>
              </a:rPr>
              <a:t>&lt;3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6953237" y="7781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190500"/>
                </a:lnTo>
                <a:lnTo>
                  <a:pt x="171450" y="190500"/>
                </a:lnTo>
                <a:lnTo>
                  <a:pt x="190500" y="190500"/>
                </a:lnTo>
                <a:lnTo>
                  <a:pt x="190500" y="171450"/>
                </a:lnTo>
                <a:lnTo>
                  <a:pt x="190500" y="0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9099" y="-1"/>
            <a:ext cx="6734175" cy="9486900"/>
            <a:chOff x="419099" y="-1"/>
            <a:chExt cx="6734175" cy="9486900"/>
          </a:xfrm>
        </p:grpSpPr>
        <p:sp>
          <p:nvSpPr>
            <p:cNvPr id="3" name="object 3" descr=""/>
            <p:cNvSpPr/>
            <p:nvPr/>
          </p:nvSpPr>
          <p:spPr>
            <a:xfrm>
              <a:off x="419099" y="-1"/>
              <a:ext cx="6734175" cy="9486900"/>
            </a:xfrm>
            <a:custGeom>
              <a:avLst/>
              <a:gdLst/>
              <a:ahLst/>
              <a:cxnLst/>
              <a:rect l="l" t="t" r="r" b="b"/>
              <a:pathLst>
                <a:path w="6734175" h="9486900">
                  <a:moveTo>
                    <a:pt x="6734174" y="9486899"/>
                  </a:moveTo>
                  <a:lnTo>
                    <a:pt x="0" y="9486899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9486899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23862" y="4760"/>
              <a:ext cx="6724650" cy="9477375"/>
            </a:xfrm>
            <a:custGeom>
              <a:avLst/>
              <a:gdLst/>
              <a:ahLst/>
              <a:cxnLst/>
              <a:rect l="l" t="t" r="r" b="b"/>
              <a:pathLst>
                <a:path w="6724650" h="9477375">
                  <a:moveTo>
                    <a:pt x="0" y="0"/>
                  </a:moveTo>
                  <a:lnTo>
                    <a:pt x="6724649" y="0"/>
                  </a:lnTo>
                  <a:lnTo>
                    <a:pt x="6724649" y="9477374"/>
                  </a:lnTo>
                  <a:lnTo>
                    <a:pt x="0" y="94773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4374" y="600072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4374" y="8905872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01674" y="288290"/>
            <a:ext cx="157988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SECTION: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ARCHITECTURE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82976" y="288290"/>
            <a:ext cx="98806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LEVEL:</a:t>
            </a:r>
            <a:r>
              <a:rPr dirty="0" sz="1050" spc="10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SYSTEM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SYSTEM</a:t>
            </a:r>
            <a:r>
              <a:rPr dirty="0" spc="370"/>
              <a:t> </a:t>
            </a:r>
            <a:r>
              <a:rPr dirty="0" spc="-10"/>
              <a:t>ARCHITECTURE</a:t>
            </a:r>
          </a:p>
        </p:txBody>
      </p:sp>
      <p:grpSp>
        <p:nvGrpSpPr>
          <p:cNvPr id="10" name="object 10" descr=""/>
          <p:cNvGrpSpPr/>
          <p:nvPr/>
        </p:nvGrpSpPr>
        <p:grpSpPr>
          <a:xfrm>
            <a:off x="428624" y="9523"/>
            <a:ext cx="6715125" cy="9467850"/>
            <a:chOff x="428624" y="9523"/>
            <a:chExt cx="6715125" cy="9467850"/>
          </a:xfrm>
        </p:grpSpPr>
        <p:sp>
          <p:nvSpPr>
            <p:cNvPr id="11" name="object 11" descr=""/>
            <p:cNvSpPr/>
            <p:nvPr/>
          </p:nvSpPr>
          <p:spPr>
            <a:xfrm>
              <a:off x="3781412" y="3209924"/>
              <a:ext cx="19050" cy="3924300"/>
            </a:xfrm>
            <a:custGeom>
              <a:avLst/>
              <a:gdLst/>
              <a:ahLst/>
              <a:cxnLst/>
              <a:rect l="l" t="t" r="r" b="b"/>
              <a:pathLst>
                <a:path w="19050" h="3924300">
                  <a:moveTo>
                    <a:pt x="19050" y="3867150"/>
                  </a:moveTo>
                  <a:lnTo>
                    <a:pt x="0" y="3867150"/>
                  </a:lnTo>
                  <a:lnTo>
                    <a:pt x="0" y="3924300"/>
                  </a:lnTo>
                  <a:lnTo>
                    <a:pt x="19050" y="3924300"/>
                  </a:lnTo>
                  <a:lnTo>
                    <a:pt x="19050" y="3867150"/>
                  </a:lnTo>
                  <a:close/>
                </a:path>
                <a:path w="19050" h="3924300">
                  <a:moveTo>
                    <a:pt x="19050" y="3800475"/>
                  </a:moveTo>
                  <a:lnTo>
                    <a:pt x="0" y="3800475"/>
                  </a:lnTo>
                  <a:lnTo>
                    <a:pt x="0" y="3857625"/>
                  </a:lnTo>
                  <a:lnTo>
                    <a:pt x="19050" y="3857625"/>
                  </a:lnTo>
                  <a:lnTo>
                    <a:pt x="19050" y="3800475"/>
                  </a:lnTo>
                  <a:close/>
                </a:path>
                <a:path w="19050" h="3924300">
                  <a:moveTo>
                    <a:pt x="19050" y="3733800"/>
                  </a:moveTo>
                  <a:lnTo>
                    <a:pt x="0" y="3733800"/>
                  </a:lnTo>
                  <a:lnTo>
                    <a:pt x="0" y="3790950"/>
                  </a:lnTo>
                  <a:lnTo>
                    <a:pt x="19050" y="3790950"/>
                  </a:lnTo>
                  <a:lnTo>
                    <a:pt x="19050" y="3733800"/>
                  </a:lnTo>
                  <a:close/>
                </a:path>
                <a:path w="19050" h="3924300">
                  <a:moveTo>
                    <a:pt x="19050" y="2000250"/>
                  </a:moveTo>
                  <a:lnTo>
                    <a:pt x="0" y="2000250"/>
                  </a:lnTo>
                  <a:lnTo>
                    <a:pt x="0" y="2057400"/>
                  </a:lnTo>
                  <a:lnTo>
                    <a:pt x="19050" y="2057400"/>
                  </a:lnTo>
                  <a:lnTo>
                    <a:pt x="19050" y="2000250"/>
                  </a:lnTo>
                  <a:close/>
                </a:path>
                <a:path w="19050" h="3924300">
                  <a:moveTo>
                    <a:pt x="19050" y="1933575"/>
                  </a:moveTo>
                  <a:lnTo>
                    <a:pt x="0" y="1933575"/>
                  </a:lnTo>
                  <a:lnTo>
                    <a:pt x="0" y="1990725"/>
                  </a:lnTo>
                  <a:lnTo>
                    <a:pt x="19050" y="1990725"/>
                  </a:lnTo>
                  <a:lnTo>
                    <a:pt x="19050" y="1933575"/>
                  </a:lnTo>
                  <a:close/>
                </a:path>
                <a:path w="19050" h="3924300">
                  <a:moveTo>
                    <a:pt x="19050" y="1866900"/>
                  </a:moveTo>
                  <a:lnTo>
                    <a:pt x="0" y="1866900"/>
                  </a:lnTo>
                  <a:lnTo>
                    <a:pt x="0" y="1924050"/>
                  </a:lnTo>
                  <a:lnTo>
                    <a:pt x="19050" y="1924050"/>
                  </a:lnTo>
                  <a:lnTo>
                    <a:pt x="19050" y="1866900"/>
                  </a:lnTo>
                  <a:close/>
                </a:path>
                <a:path w="19050" h="3924300">
                  <a:moveTo>
                    <a:pt x="19050" y="133350"/>
                  </a:moveTo>
                  <a:lnTo>
                    <a:pt x="0" y="133350"/>
                  </a:lnTo>
                  <a:lnTo>
                    <a:pt x="0" y="190500"/>
                  </a:lnTo>
                  <a:lnTo>
                    <a:pt x="19050" y="190500"/>
                  </a:lnTo>
                  <a:lnTo>
                    <a:pt x="19050" y="133350"/>
                  </a:lnTo>
                  <a:close/>
                </a:path>
                <a:path w="19050" h="3924300">
                  <a:moveTo>
                    <a:pt x="19050" y="66675"/>
                  </a:moveTo>
                  <a:lnTo>
                    <a:pt x="0" y="66675"/>
                  </a:lnTo>
                  <a:lnTo>
                    <a:pt x="0" y="123825"/>
                  </a:lnTo>
                  <a:lnTo>
                    <a:pt x="19050" y="123825"/>
                  </a:lnTo>
                  <a:lnTo>
                    <a:pt x="19050" y="66675"/>
                  </a:lnTo>
                  <a:close/>
                </a:path>
                <a:path w="19050" h="3924300">
                  <a:moveTo>
                    <a:pt x="190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9050" y="571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8612" y="9524"/>
              <a:ext cx="6715125" cy="9467850"/>
            </a:xfrm>
            <a:custGeom>
              <a:avLst/>
              <a:gdLst/>
              <a:ahLst/>
              <a:cxnLst/>
              <a:rect l="l" t="t" r="r" b="b"/>
              <a:pathLst>
                <a:path w="6715125" h="9467850">
                  <a:moveTo>
                    <a:pt x="1905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190500"/>
                  </a:lnTo>
                  <a:lnTo>
                    <a:pt x="19050" y="190500"/>
                  </a:lnTo>
                  <a:lnTo>
                    <a:pt x="19050" y="19050"/>
                  </a:lnTo>
                  <a:lnTo>
                    <a:pt x="190500" y="19050"/>
                  </a:lnTo>
                  <a:lnTo>
                    <a:pt x="190500" y="0"/>
                  </a:lnTo>
                  <a:close/>
                </a:path>
                <a:path w="6715125" h="9467850">
                  <a:moveTo>
                    <a:pt x="6715125" y="9277350"/>
                  </a:moveTo>
                  <a:lnTo>
                    <a:pt x="6696075" y="9277350"/>
                  </a:lnTo>
                  <a:lnTo>
                    <a:pt x="6696075" y="9448800"/>
                  </a:lnTo>
                  <a:lnTo>
                    <a:pt x="6524625" y="9448800"/>
                  </a:lnTo>
                  <a:lnTo>
                    <a:pt x="6524625" y="9467850"/>
                  </a:lnTo>
                  <a:lnTo>
                    <a:pt x="6696075" y="9467850"/>
                  </a:lnTo>
                  <a:lnTo>
                    <a:pt x="6715125" y="9467850"/>
                  </a:lnTo>
                  <a:lnTo>
                    <a:pt x="6715125" y="9448800"/>
                  </a:lnTo>
                  <a:lnTo>
                    <a:pt x="6715125" y="927735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01674" y="9001759"/>
            <a:ext cx="1932939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ADVANCED</a:t>
            </a:r>
            <a:r>
              <a:rPr dirty="0" sz="9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9CA2AF"/>
                </a:solidFill>
                <a:latin typeface="Trebuchet MS"/>
                <a:cs typeface="Trebuchet MS"/>
              </a:rPr>
              <a:t>DEFENSE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SYSTEMS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DIVISION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817094" y="9001759"/>
            <a:ext cx="73596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85">
                <a:solidFill>
                  <a:srgbClr val="9CA2AF"/>
                </a:solidFill>
                <a:latin typeface="Trebuchet MS"/>
                <a:cs typeface="Trebuchet MS"/>
              </a:rPr>
              <a:t>PAGE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05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08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35191" y="9001759"/>
            <a:ext cx="11360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40">
                <a:solidFill>
                  <a:srgbClr val="9CA2AF"/>
                </a:solidFill>
                <a:latin typeface="Trebuchet MS"/>
                <a:cs typeface="Trebuchet MS"/>
              </a:rPr>
              <a:t>CLASSIFIED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70">
                <a:solidFill>
                  <a:srgbClr val="9CA2AF"/>
                </a:solidFill>
                <a:latin typeface="Trebuchet MS"/>
                <a:cs typeface="Trebuchet MS"/>
              </a:rPr>
              <a:t>DOCUMENT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47862" y="1919285"/>
            <a:ext cx="3676650" cy="904875"/>
          </a:xfrm>
          <a:prstGeom prst="rect">
            <a:avLst/>
          </a:prstGeom>
          <a:solidFill>
            <a:srgbClr val="3B81F5">
              <a:alpha val="5099"/>
            </a:srgbClr>
          </a:solidFill>
          <a:ln w="9524">
            <a:solidFill>
              <a:srgbClr val="FABE24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50" spc="-105" b="1">
                <a:solidFill>
                  <a:srgbClr val="F9FAFA"/>
                </a:solidFill>
                <a:latin typeface="Trebuchet MS"/>
                <a:cs typeface="Trebuchet MS"/>
              </a:rPr>
              <a:t>COMMAND</a:t>
            </a:r>
            <a:r>
              <a:rPr dirty="0" sz="1350" spc="-65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CENTER</a:t>
            </a:r>
            <a:endParaRPr sz="1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050" spc="-45">
                <a:solidFill>
                  <a:srgbClr val="9CA2AF"/>
                </a:solidFill>
                <a:latin typeface="Trebuchet MS"/>
                <a:cs typeface="Trebuchet MS"/>
              </a:rPr>
              <a:t>Satellite</a:t>
            </a:r>
            <a:r>
              <a:rPr dirty="0" sz="10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65">
                <a:solidFill>
                  <a:srgbClr val="9CA2AF"/>
                </a:solidFill>
                <a:latin typeface="Trebuchet MS"/>
                <a:cs typeface="Trebuchet MS"/>
              </a:rPr>
              <a:t>Link</a:t>
            </a:r>
            <a:r>
              <a:rPr dirty="0" sz="10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135">
                <a:solidFill>
                  <a:srgbClr val="9CA2AF"/>
                </a:solidFill>
                <a:latin typeface="Trebuchet MS"/>
                <a:cs typeface="Trebuchet MS"/>
              </a:rPr>
              <a:t>/</a:t>
            </a:r>
            <a:r>
              <a:rPr dirty="0" sz="10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9CA2AF"/>
                </a:solidFill>
                <a:latin typeface="Trebuchet MS"/>
                <a:cs typeface="Trebuchet MS"/>
              </a:rPr>
              <a:t>Ground</a:t>
            </a:r>
            <a:r>
              <a:rPr dirty="0" sz="10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9CA2AF"/>
                </a:solidFill>
                <a:latin typeface="Trebuchet MS"/>
                <a:cs typeface="Trebuchet MS"/>
              </a:rPr>
              <a:t>Station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47862" y="3786185"/>
            <a:ext cx="3676650" cy="904875"/>
          </a:xfrm>
          <a:prstGeom prst="rect">
            <a:avLst/>
          </a:prstGeom>
          <a:solidFill>
            <a:srgbClr val="3B81F5">
              <a:alpha val="5099"/>
            </a:srgbClr>
          </a:solidFill>
          <a:ln w="9524">
            <a:solidFill>
              <a:srgbClr val="3B81F5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50" spc="-50" b="1">
                <a:solidFill>
                  <a:srgbClr val="F9FAFA"/>
                </a:solidFill>
                <a:latin typeface="Trebuchet MS"/>
                <a:cs typeface="Trebuchet MS"/>
              </a:rPr>
              <a:t>MISSION</a:t>
            </a:r>
            <a:r>
              <a:rPr dirty="0" sz="1350" spc="-70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PLANNING</a:t>
            </a:r>
            <a:endParaRPr sz="1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050" spc="-80">
                <a:solidFill>
                  <a:srgbClr val="9CA2AF"/>
                </a:solidFill>
                <a:latin typeface="Trebuchet MS"/>
                <a:cs typeface="Trebuchet MS"/>
              </a:rPr>
              <a:t>Trajectory</a:t>
            </a:r>
            <a:r>
              <a:rPr dirty="0" sz="10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9CA2AF"/>
                </a:solidFill>
                <a:latin typeface="Trebuchet MS"/>
                <a:cs typeface="Trebuchet MS"/>
              </a:rPr>
              <a:t>Calculation</a:t>
            </a:r>
            <a:r>
              <a:rPr dirty="0" sz="10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135">
                <a:solidFill>
                  <a:srgbClr val="9CA2AF"/>
                </a:solidFill>
                <a:latin typeface="Trebuchet MS"/>
                <a:cs typeface="Trebuchet MS"/>
              </a:rPr>
              <a:t>/</a:t>
            </a:r>
            <a:r>
              <a:rPr dirty="0" sz="10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65">
                <a:solidFill>
                  <a:srgbClr val="9CA2AF"/>
                </a:solidFill>
                <a:latin typeface="Trebuchet MS"/>
                <a:cs typeface="Trebuchet MS"/>
              </a:rPr>
              <a:t>Threat</a:t>
            </a:r>
            <a:r>
              <a:rPr dirty="0" sz="10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9CA2AF"/>
                </a:solidFill>
                <a:latin typeface="Trebuchet MS"/>
                <a:cs typeface="Trebuchet MS"/>
              </a:rPr>
              <a:t>Avoidance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43012" y="5653085"/>
            <a:ext cx="2447925" cy="904875"/>
          </a:xfrm>
          <a:prstGeom prst="rect">
            <a:avLst/>
          </a:prstGeom>
          <a:solidFill>
            <a:srgbClr val="3B81F5">
              <a:alpha val="5099"/>
            </a:srgbClr>
          </a:solidFill>
          <a:ln w="9524">
            <a:solidFill>
              <a:srgbClr val="3B81F5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1905">
              <a:lnSpc>
                <a:spcPct val="100000"/>
              </a:lnSpc>
            </a:pPr>
            <a:r>
              <a:rPr dirty="0" sz="1350" spc="-140" b="1">
                <a:solidFill>
                  <a:srgbClr val="F9FAFA"/>
                </a:solidFill>
                <a:latin typeface="Trebuchet MS"/>
                <a:cs typeface="Trebuchet MS"/>
              </a:rPr>
              <a:t>LAUNCH</a:t>
            </a:r>
            <a:r>
              <a:rPr dirty="0" sz="1350" spc="-55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SYSTEMS</a:t>
            </a:r>
            <a:endParaRPr sz="1350">
              <a:latin typeface="Trebuchet MS"/>
              <a:cs typeface="Trebuchet MS"/>
            </a:endParaRPr>
          </a:p>
          <a:p>
            <a:pPr algn="ctr" marR="1905">
              <a:lnSpc>
                <a:spcPct val="100000"/>
              </a:lnSpc>
              <a:spcBef>
                <a:spcPts val="705"/>
              </a:spcBef>
            </a:pPr>
            <a:r>
              <a:rPr dirty="0" sz="1050" spc="-45">
                <a:solidFill>
                  <a:srgbClr val="9CA2AF"/>
                </a:solidFill>
                <a:latin typeface="Trebuchet MS"/>
                <a:cs typeface="Trebuchet MS"/>
              </a:rPr>
              <a:t>Ignition</a:t>
            </a:r>
            <a:r>
              <a:rPr dirty="0" sz="10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100">
                <a:solidFill>
                  <a:srgbClr val="9CA2AF"/>
                </a:solidFill>
                <a:latin typeface="Trebuchet MS"/>
                <a:cs typeface="Trebuchet MS"/>
              </a:rPr>
              <a:t>&amp;</a:t>
            </a:r>
            <a:r>
              <a:rPr dirty="0" sz="10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20">
                <a:solidFill>
                  <a:srgbClr val="9CA2AF"/>
                </a:solidFill>
                <a:latin typeface="Trebuchet MS"/>
                <a:cs typeface="Trebuchet MS"/>
              </a:rPr>
              <a:t>Boost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90962" y="5653085"/>
            <a:ext cx="2447925" cy="904875"/>
          </a:xfrm>
          <a:prstGeom prst="rect">
            <a:avLst/>
          </a:prstGeom>
          <a:solidFill>
            <a:srgbClr val="3B81F5">
              <a:alpha val="5099"/>
            </a:srgbClr>
          </a:solidFill>
          <a:ln w="9524">
            <a:solidFill>
              <a:srgbClr val="3B81F5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1905">
              <a:lnSpc>
                <a:spcPct val="100000"/>
              </a:lnSpc>
            </a:pPr>
            <a:r>
              <a:rPr dirty="0" sz="1350" spc="-125" b="1">
                <a:solidFill>
                  <a:srgbClr val="F9FAFA"/>
                </a:solidFill>
                <a:latin typeface="Trebuchet MS"/>
                <a:cs typeface="Trebuchet MS"/>
              </a:rPr>
              <a:t>GUIDANCE</a:t>
            </a:r>
            <a:r>
              <a:rPr dirty="0" sz="1350" spc="-70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30" b="1">
                <a:solidFill>
                  <a:srgbClr val="F9FAFA"/>
                </a:solidFill>
                <a:latin typeface="Trebuchet MS"/>
                <a:cs typeface="Trebuchet MS"/>
              </a:rPr>
              <a:t>&amp;</a:t>
            </a:r>
            <a:r>
              <a:rPr dirty="0" sz="1350" spc="-70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20" b="1">
                <a:solidFill>
                  <a:srgbClr val="F9FAFA"/>
                </a:solidFill>
                <a:latin typeface="Trebuchet MS"/>
                <a:cs typeface="Trebuchet MS"/>
              </a:rPr>
              <a:t>CONTROL</a:t>
            </a:r>
            <a:endParaRPr sz="1350">
              <a:latin typeface="Trebuchet MS"/>
              <a:cs typeface="Trebuchet MS"/>
            </a:endParaRPr>
          </a:p>
          <a:p>
            <a:pPr algn="ctr" marR="1905">
              <a:lnSpc>
                <a:spcPct val="100000"/>
              </a:lnSpc>
              <a:spcBef>
                <a:spcPts val="705"/>
              </a:spcBef>
            </a:pPr>
            <a:r>
              <a:rPr dirty="0" sz="1050" spc="-60">
                <a:solidFill>
                  <a:srgbClr val="9CA2AF"/>
                </a:solidFill>
                <a:latin typeface="Trebuchet MS"/>
                <a:cs typeface="Trebuchet MS"/>
              </a:rPr>
              <a:t>Real-</a:t>
            </a:r>
            <a:r>
              <a:rPr dirty="0" sz="1050" spc="-65">
                <a:solidFill>
                  <a:srgbClr val="9CA2AF"/>
                </a:solidFill>
                <a:latin typeface="Trebuchet MS"/>
                <a:cs typeface="Trebuchet MS"/>
              </a:rPr>
              <a:t>time</a:t>
            </a:r>
            <a:r>
              <a:rPr dirty="0" sz="1050" spc="3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9CA2AF"/>
                </a:solidFill>
                <a:latin typeface="Trebuchet MS"/>
                <a:cs typeface="Trebuchet MS"/>
              </a:rPr>
              <a:t>Telemetry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947862" y="7519985"/>
            <a:ext cx="3676650" cy="904875"/>
          </a:xfrm>
          <a:prstGeom prst="rect">
            <a:avLst/>
          </a:prstGeom>
          <a:solidFill>
            <a:srgbClr val="3B81F5">
              <a:alpha val="5099"/>
            </a:srgbClr>
          </a:solidFill>
          <a:ln w="9524">
            <a:solidFill>
              <a:srgbClr val="EF4444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350">
              <a:latin typeface="Times New Roman"/>
              <a:cs typeface="Times New Roman"/>
            </a:endParaRPr>
          </a:p>
          <a:p>
            <a:pPr marL="1143000">
              <a:lnSpc>
                <a:spcPct val="100000"/>
              </a:lnSpc>
            </a:pPr>
            <a:r>
              <a:rPr dirty="0" sz="1350" spc="-120" b="1">
                <a:solidFill>
                  <a:srgbClr val="F9FAFA"/>
                </a:solidFill>
                <a:latin typeface="Trebuchet MS"/>
                <a:cs typeface="Trebuchet MS"/>
              </a:rPr>
              <a:t>WARHEAD</a:t>
            </a:r>
            <a:r>
              <a:rPr dirty="0" sz="1350" spc="-65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DELIVERY</a:t>
            </a:r>
            <a:endParaRPr sz="1350">
              <a:latin typeface="Trebuchet MS"/>
              <a:cs typeface="Trebuchet MS"/>
            </a:endParaRPr>
          </a:p>
          <a:p>
            <a:pPr marL="1134745">
              <a:lnSpc>
                <a:spcPct val="100000"/>
              </a:lnSpc>
              <a:spcBef>
                <a:spcPts val="705"/>
              </a:spcBef>
            </a:pPr>
            <a:r>
              <a:rPr dirty="0" sz="1050" spc="-75">
                <a:solidFill>
                  <a:srgbClr val="9CA2AF"/>
                </a:solidFill>
                <a:latin typeface="Trebuchet MS"/>
                <a:cs typeface="Trebuchet MS"/>
              </a:rPr>
              <a:t>Terminal</a:t>
            </a:r>
            <a:r>
              <a:rPr dirty="0" sz="10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1050" spc="-20">
                <a:solidFill>
                  <a:srgbClr val="9CA2AF"/>
                </a:solidFill>
                <a:latin typeface="Trebuchet MS"/>
                <a:cs typeface="Trebuchet MS"/>
              </a:rPr>
              <a:t>Phase</a:t>
            </a:r>
            <a:r>
              <a:rPr dirty="0" sz="1050" spc="-10">
                <a:solidFill>
                  <a:srgbClr val="9CA2AF"/>
                </a:solidFill>
                <a:latin typeface="Trebuchet MS"/>
                <a:cs typeface="Trebuchet MS"/>
              </a:rPr>
              <a:t> Execution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9099" y="-2"/>
            <a:ext cx="6734175" cy="5353050"/>
            <a:chOff x="419099" y="-2"/>
            <a:chExt cx="6734175" cy="5353050"/>
          </a:xfrm>
        </p:grpSpPr>
        <p:sp>
          <p:nvSpPr>
            <p:cNvPr id="3" name="object 3" descr=""/>
            <p:cNvSpPr/>
            <p:nvPr/>
          </p:nvSpPr>
          <p:spPr>
            <a:xfrm>
              <a:off x="419099" y="-2"/>
              <a:ext cx="6734175" cy="5353050"/>
            </a:xfrm>
            <a:custGeom>
              <a:avLst/>
              <a:gdLst/>
              <a:ahLst/>
              <a:cxnLst/>
              <a:rect l="l" t="t" r="r" b="b"/>
              <a:pathLst>
                <a:path w="6734175" h="5353050">
                  <a:moveTo>
                    <a:pt x="6734174" y="5353049"/>
                  </a:moveTo>
                  <a:lnTo>
                    <a:pt x="0" y="5353049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5353049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23862" y="4760"/>
              <a:ext cx="6724650" cy="5343525"/>
            </a:xfrm>
            <a:custGeom>
              <a:avLst/>
              <a:gdLst/>
              <a:ahLst/>
              <a:cxnLst/>
              <a:rect l="l" t="t" r="r" b="b"/>
              <a:pathLst>
                <a:path w="6724650" h="5343525">
                  <a:moveTo>
                    <a:pt x="0" y="0"/>
                  </a:moveTo>
                  <a:lnTo>
                    <a:pt x="6724649" y="0"/>
                  </a:lnTo>
                  <a:lnTo>
                    <a:pt x="6724649" y="5343524"/>
                  </a:lnTo>
                  <a:lnTo>
                    <a:pt x="0" y="53435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4374" y="600072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4374" y="4772022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14374" y="288290"/>
            <a:ext cx="164147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SECTION: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THREAT_MATRIX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69644" y="288290"/>
            <a:ext cx="9010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MODE:</a:t>
            </a:r>
            <a:r>
              <a:rPr dirty="0" sz="1050" spc="10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ACTIVE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THREAT</a:t>
            </a:r>
            <a:r>
              <a:rPr dirty="0" spc="480"/>
              <a:t> </a:t>
            </a:r>
            <a:r>
              <a:rPr dirty="0"/>
              <a:t>ASSESSMENT</a:t>
            </a:r>
            <a:r>
              <a:rPr dirty="0" spc="480"/>
              <a:t> </a:t>
            </a:r>
            <a:r>
              <a:rPr dirty="0" spc="-10"/>
              <a:t>MATRIX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14374" y="1511300"/>
            <a:ext cx="392937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85">
                <a:solidFill>
                  <a:srgbClr val="415461"/>
                </a:solidFill>
                <a:latin typeface="Trebuchet MS"/>
                <a:cs typeface="Trebuchet MS"/>
              </a:rPr>
              <a:t>Operational</a:t>
            </a:r>
            <a:r>
              <a:rPr dirty="0" sz="1350" spc="-35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75">
                <a:solidFill>
                  <a:srgbClr val="415461"/>
                </a:solidFill>
                <a:latin typeface="Trebuchet MS"/>
                <a:cs typeface="Trebuchet MS"/>
              </a:rPr>
              <a:t>risk</a:t>
            </a:r>
            <a:r>
              <a:rPr dirty="0" sz="1350" spc="-30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75">
                <a:solidFill>
                  <a:srgbClr val="415461"/>
                </a:solidFill>
                <a:latin typeface="Trebuchet MS"/>
                <a:cs typeface="Trebuchet MS"/>
              </a:rPr>
              <a:t>evaluation</a:t>
            </a:r>
            <a:r>
              <a:rPr dirty="0" sz="1350" spc="-30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45">
                <a:solidFill>
                  <a:srgbClr val="415461"/>
                </a:solidFill>
                <a:latin typeface="Trebuchet MS"/>
                <a:cs typeface="Trebuchet MS"/>
              </a:rPr>
              <a:t>across</a:t>
            </a:r>
            <a:r>
              <a:rPr dirty="0" sz="1350" spc="-30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55">
                <a:solidFill>
                  <a:srgbClr val="415461"/>
                </a:solidFill>
                <a:latin typeface="Trebuchet MS"/>
                <a:cs typeface="Trebuchet MS"/>
              </a:rPr>
              <a:t>engagement</a:t>
            </a:r>
            <a:r>
              <a:rPr dirty="0" sz="1350" spc="-30">
                <a:solidFill>
                  <a:srgbClr val="415461"/>
                </a:solidFill>
                <a:latin typeface="Trebuchet MS"/>
                <a:cs typeface="Trebuchet MS"/>
              </a:rPr>
              <a:t> </a:t>
            </a:r>
            <a:r>
              <a:rPr dirty="0" sz="1350" spc="-65">
                <a:solidFill>
                  <a:srgbClr val="415461"/>
                </a:solidFill>
                <a:latin typeface="Trebuchet MS"/>
                <a:cs typeface="Trebuchet MS"/>
              </a:rPr>
              <a:t>domains.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14374" y="2057397"/>
            <a:ext cx="3000375" cy="1143000"/>
            <a:chOff x="714374" y="2057397"/>
            <a:chExt cx="3000375" cy="1143000"/>
          </a:xfrm>
        </p:grpSpPr>
        <p:sp>
          <p:nvSpPr>
            <p:cNvPr id="12" name="object 12" descr=""/>
            <p:cNvSpPr/>
            <p:nvPr/>
          </p:nvSpPr>
          <p:spPr>
            <a:xfrm>
              <a:off x="714374" y="2057397"/>
              <a:ext cx="3000375" cy="1143000"/>
            </a:xfrm>
            <a:custGeom>
              <a:avLst/>
              <a:gdLst/>
              <a:ahLst/>
              <a:cxnLst/>
              <a:rect l="l" t="t" r="r" b="b"/>
              <a:pathLst>
                <a:path w="3000375" h="1143000">
                  <a:moveTo>
                    <a:pt x="3000374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3000374" y="0"/>
                  </a:lnTo>
                  <a:lnTo>
                    <a:pt x="3000374" y="1142999"/>
                  </a:lnTo>
                  <a:close/>
                </a:path>
              </a:pathLst>
            </a:custGeom>
            <a:solidFill>
              <a:srgbClr val="FABE24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9137" y="2062159"/>
              <a:ext cx="2990850" cy="1133475"/>
            </a:xfrm>
            <a:custGeom>
              <a:avLst/>
              <a:gdLst/>
              <a:ahLst/>
              <a:cxnLst/>
              <a:rect l="l" t="t" r="r" b="b"/>
              <a:pathLst>
                <a:path w="2990850" h="1133475">
                  <a:moveTo>
                    <a:pt x="0" y="0"/>
                  </a:moveTo>
                  <a:lnTo>
                    <a:pt x="2990849" y="0"/>
                  </a:lnTo>
                  <a:lnTo>
                    <a:pt x="2990849" y="1133474"/>
                  </a:lnTo>
                  <a:lnTo>
                    <a:pt x="0" y="1133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ABE2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66775" y="2206625"/>
            <a:ext cx="2708275" cy="805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393950" algn="l"/>
              </a:tabLst>
            </a:pPr>
            <a:r>
              <a:rPr dirty="0" sz="1350" spc="-75" b="1">
                <a:solidFill>
                  <a:srgbClr val="F9FAFA"/>
                </a:solidFill>
                <a:latin typeface="Trebuchet MS"/>
                <a:cs typeface="Trebuchet MS"/>
              </a:rPr>
              <a:t>AIR</a:t>
            </a:r>
            <a:r>
              <a:rPr dirty="0" sz="1350" spc="-95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DEFENSE</a:t>
            </a:r>
            <a:r>
              <a:rPr dirty="0" sz="1350" b="1">
                <a:solidFill>
                  <a:srgbClr val="F9FAFA"/>
                </a:solidFill>
                <a:latin typeface="Trebuchet MS"/>
                <a:cs typeface="Trebuchet MS"/>
              </a:rPr>
              <a:t>	</a:t>
            </a:r>
            <a:r>
              <a:rPr dirty="0" sz="1350" spc="-75" b="1">
                <a:solidFill>
                  <a:srgbClr val="F9FAFA"/>
                </a:solidFill>
                <a:latin typeface="Trebuchet MS"/>
                <a:cs typeface="Trebuchet MS"/>
              </a:rPr>
              <a:t>MED</a:t>
            </a:r>
            <a:endParaRPr sz="1350">
              <a:latin typeface="Trebuchet MS"/>
              <a:cs typeface="Trebuchet MS"/>
            </a:endParaRPr>
          </a:p>
          <a:p>
            <a:pPr marR="133985">
              <a:lnSpc>
                <a:spcPct val="125000"/>
              </a:lnSpc>
              <a:spcBef>
                <a:spcPts val="1365"/>
              </a:spcBef>
            </a:pPr>
            <a:r>
              <a:rPr dirty="0" sz="1050">
                <a:solidFill>
                  <a:srgbClr val="F9FAFA"/>
                </a:solidFill>
                <a:latin typeface="Trebuchet MS"/>
                <a:cs typeface="Trebuchet MS"/>
              </a:rPr>
              <a:t>S-</a:t>
            </a:r>
            <a:r>
              <a:rPr dirty="0" sz="1050" spc="-45">
                <a:solidFill>
                  <a:srgbClr val="F9FAFA"/>
                </a:solidFill>
                <a:latin typeface="Trebuchet MS"/>
                <a:cs typeface="Trebuchet MS"/>
              </a:rPr>
              <a:t>400/Patriot</a:t>
            </a:r>
            <a:r>
              <a:rPr dirty="0" sz="1050" spc="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60">
                <a:solidFill>
                  <a:srgbClr val="F9FAFA"/>
                </a:solidFill>
                <a:latin typeface="Trebuchet MS"/>
                <a:cs typeface="Trebuchet MS"/>
              </a:rPr>
              <a:t>capability</a:t>
            </a:r>
            <a:r>
              <a:rPr dirty="0" sz="1050" spc="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45">
                <a:solidFill>
                  <a:srgbClr val="F9FAFA"/>
                </a:solidFill>
                <a:latin typeface="Trebuchet MS"/>
                <a:cs typeface="Trebuchet MS"/>
              </a:rPr>
              <a:t>degradation</a:t>
            </a:r>
            <a:r>
              <a:rPr dirty="0" sz="1050" spc="2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35">
                <a:solidFill>
                  <a:srgbClr val="F9FAFA"/>
                </a:solidFill>
                <a:latin typeface="Trebuchet MS"/>
                <a:cs typeface="Trebuchet MS"/>
              </a:rPr>
              <a:t>expected 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at</a:t>
            </a:r>
            <a:r>
              <a:rPr dirty="0" sz="10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45">
                <a:solidFill>
                  <a:srgbClr val="F9FAFA"/>
                </a:solidFill>
                <a:latin typeface="Trebuchet MS"/>
                <a:cs typeface="Trebuchet MS"/>
              </a:rPr>
              <a:t>Mach</a:t>
            </a:r>
            <a:r>
              <a:rPr dirty="0" sz="10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65">
                <a:solidFill>
                  <a:srgbClr val="F9FAFA"/>
                </a:solidFill>
                <a:latin typeface="Trebuchet MS"/>
                <a:cs typeface="Trebuchet MS"/>
              </a:rPr>
              <a:t>8+.</a:t>
            </a:r>
            <a:r>
              <a:rPr dirty="0" sz="10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35">
                <a:solidFill>
                  <a:srgbClr val="F9FAFA"/>
                </a:solidFill>
                <a:latin typeface="Trebuchet MS"/>
                <a:cs typeface="Trebuchet MS"/>
              </a:rPr>
              <a:t>Evasion</a:t>
            </a:r>
            <a:r>
              <a:rPr dirty="0" sz="1050" spc="-2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30">
                <a:solidFill>
                  <a:srgbClr val="F9FAFA"/>
                </a:solidFill>
                <a:latin typeface="Trebuchet MS"/>
                <a:cs typeface="Trebuchet MS"/>
              </a:rPr>
              <a:t>success</a:t>
            </a:r>
            <a:r>
              <a:rPr dirty="0" sz="10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70">
                <a:solidFill>
                  <a:srgbClr val="F9FAFA"/>
                </a:solidFill>
                <a:latin typeface="Trebuchet MS"/>
                <a:cs typeface="Trebuchet MS"/>
              </a:rPr>
              <a:t>probability:</a:t>
            </a:r>
            <a:r>
              <a:rPr dirty="0" sz="1050" spc="-20">
                <a:solidFill>
                  <a:srgbClr val="F9FAFA"/>
                </a:solidFill>
                <a:latin typeface="Trebuchet MS"/>
                <a:cs typeface="Trebuchet MS"/>
              </a:rPr>
              <a:t> 78%.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3857624" y="2057397"/>
            <a:ext cx="3000375" cy="1143000"/>
            <a:chOff x="3857624" y="2057397"/>
            <a:chExt cx="3000375" cy="1143000"/>
          </a:xfrm>
        </p:grpSpPr>
        <p:sp>
          <p:nvSpPr>
            <p:cNvPr id="16" name="object 16" descr=""/>
            <p:cNvSpPr/>
            <p:nvPr/>
          </p:nvSpPr>
          <p:spPr>
            <a:xfrm>
              <a:off x="3857624" y="2057397"/>
              <a:ext cx="3000375" cy="1143000"/>
            </a:xfrm>
            <a:custGeom>
              <a:avLst/>
              <a:gdLst/>
              <a:ahLst/>
              <a:cxnLst/>
              <a:rect l="l" t="t" r="r" b="b"/>
              <a:pathLst>
                <a:path w="3000375" h="1143000">
                  <a:moveTo>
                    <a:pt x="3000374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3000374" y="0"/>
                  </a:lnTo>
                  <a:lnTo>
                    <a:pt x="3000374" y="1142999"/>
                  </a:lnTo>
                  <a:close/>
                </a:path>
              </a:pathLst>
            </a:custGeom>
            <a:solidFill>
              <a:srgbClr val="0FB981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62387" y="2062159"/>
              <a:ext cx="2990850" cy="1133475"/>
            </a:xfrm>
            <a:custGeom>
              <a:avLst/>
              <a:gdLst/>
              <a:ahLst/>
              <a:cxnLst/>
              <a:rect l="l" t="t" r="r" b="b"/>
              <a:pathLst>
                <a:path w="2990850" h="1133475">
                  <a:moveTo>
                    <a:pt x="0" y="0"/>
                  </a:moveTo>
                  <a:lnTo>
                    <a:pt x="2990849" y="0"/>
                  </a:lnTo>
                  <a:lnTo>
                    <a:pt x="2990849" y="1133474"/>
                  </a:lnTo>
                  <a:lnTo>
                    <a:pt x="0" y="1133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B98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010025" y="2206625"/>
            <a:ext cx="11569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130" b="1">
                <a:solidFill>
                  <a:srgbClr val="F9FAFA"/>
                </a:solidFill>
                <a:latin typeface="Trebuchet MS"/>
                <a:cs typeface="Trebuchet MS"/>
              </a:rPr>
              <a:t>NAVAL</a:t>
            </a:r>
            <a:r>
              <a:rPr dirty="0" sz="1350" spc="-75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50" b="1">
                <a:solidFill>
                  <a:srgbClr val="F9FAFA"/>
                </a:solidFill>
                <a:latin typeface="Trebuchet MS"/>
                <a:cs typeface="Trebuchet MS"/>
              </a:rPr>
              <a:t>SYSTEMS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395590" y="2206625"/>
            <a:ext cx="32321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140" b="1">
                <a:solidFill>
                  <a:srgbClr val="F9FAFA"/>
                </a:solidFill>
                <a:latin typeface="Trebuchet MS"/>
                <a:cs typeface="Trebuchet MS"/>
              </a:rPr>
              <a:t>LOW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010025" y="2586482"/>
            <a:ext cx="2332990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25000"/>
              </a:lnSpc>
              <a:spcBef>
                <a:spcPts val="95"/>
              </a:spcBef>
            </a:pPr>
            <a:r>
              <a:rPr dirty="0" sz="1050" spc="-25">
                <a:solidFill>
                  <a:srgbClr val="F9FAFA"/>
                </a:solidFill>
                <a:latin typeface="Trebuchet MS"/>
                <a:cs typeface="Trebuchet MS"/>
              </a:rPr>
              <a:t>Aegis</a:t>
            </a:r>
            <a:r>
              <a:rPr dirty="0" sz="10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35">
                <a:solidFill>
                  <a:srgbClr val="F9FAFA"/>
                </a:solidFill>
                <a:latin typeface="Trebuchet MS"/>
                <a:cs typeface="Trebuchet MS"/>
              </a:rPr>
              <a:t>engagement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F9FAFA"/>
                </a:solidFill>
                <a:latin typeface="Trebuchet MS"/>
                <a:cs typeface="Trebuchet MS"/>
              </a:rPr>
              <a:t>envelope</a:t>
            </a:r>
            <a:r>
              <a:rPr dirty="0" sz="10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25">
                <a:solidFill>
                  <a:srgbClr val="F9FAFA"/>
                </a:solidFill>
                <a:latin typeface="Trebuchet MS"/>
                <a:cs typeface="Trebuchet MS"/>
              </a:rPr>
              <a:t>bypassed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25">
                <a:solidFill>
                  <a:srgbClr val="F9FAFA"/>
                </a:solidFill>
                <a:latin typeface="Trebuchet MS"/>
                <a:cs typeface="Trebuchet MS"/>
              </a:rPr>
              <a:t>via </a:t>
            </a:r>
            <a:r>
              <a:rPr dirty="0" sz="1050" spc="-50">
                <a:solidFill>
                  <a:srgbClr val="F9FAFA"/>
                </a:solidFill>
                <a:latin typeface="Trebuchet MS"/>
                <a:cs typeface="Trebuchet MS"/>
              </a:rPr>
              <a:t>atmospheric</a:t>
            </a:r>
            <a:r>
              <a:rPr dirty="0" sz="10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40">
                <a:solidFill>
                  <a:srgbClr val="F9FAFA"/>
                </a:solidFill>
                <a:latin typeface="Trebuchet MS"/>
                <a:cs typeface="Trebuchet MS"/>
              </a:rPr>
              <a:t>skipping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 maneuver.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14374" y="3343272"/>
            <a:ext cx="3000375" cy="1143000"/>
            <a:chOff x="714374" y="3343272"/>
            <a:chExt cx="3000375" cy="1143000"/>
          </a:xfrm>
        </p:grpSpPr>
        <p:sp>
          <p:nvSpPr>
            <p:cNvPr id="22" name="object 22" descr=""/>
            <p:cNvSpPr/>
            <p:nvPr/>
          </p:nvSpPr>
          <p:spPr>
            <a:xfrm>
              <a:off x="714374" y="3343272"/>
              <a:ext cx="3000375" cy="1143000"/>
            </a:xfrm>
            <a:custGeom>
              <a:avLst/>
              <a:gdLst/>
              <a:ahLst/>
              <a:cxnLst/>
              <a:rect l="l" t="t" r="r" b="b"/>
              <a:pathLst>
                <a:path w="3000375" h="1143000">
                  <a:moveTo>
                    <a:pt x="3000374" y="1142999"/>
                  </a:moveTo>
                  <a:lnTo>
                    <a:pt x="0" y="1142999"/>
                  </a:lnTo>
                  <a:lnTo>
                    <a:pt x="0" y="0"/>
                  </a:lnTo>
                  <a:lnTo>
                    <a:pt x="3000374" y="0"/>
                  </a:lnTo>
                  <a:lnTo>
                    <a:pt x="3000374" y="1142999"/>
                  </a:lnTo>
                  <a:close/>
                </a:path>
              </a:pathLst>
            </a:custGeom>
            <a:solidFill>
              <a:srgbClr val="0FB981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19137" y="3348034"/>
              <a:ext cx="2990850" cy="1133475"/>
            </a:xfrm>
            <a:custGeom>
              <a:avLst/>
              <a:gdLst/>
              <a:ahLst/>
              <a:cxnLst/>
              <a:rect l="l" t="t" r="r" b="b"/>
              <a:pathLst>
                <a:path w="2990850" h="1133475">
                  <a:moveTo>
                    <a:pt x="0" y="0"/>
                  </a:moveTo>
                  <a:lnTo>
                    <a:pt x="2990849" y="0"/>
                  </a:lnTo>
                  <a:lnTo>
                    <a:pt x="2990849" y="1133474"/>
                  </a:lnTo>
                  <a:lnTo>
                    <a:pt x="0" y="1133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B98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866775" y="3492500"/>
            <a:ext cx="11563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155" b="1">
                <a:solidFill>
                  <a:srgbClr val="F9FAFA"/>
                </a:solidFill>
                <a:latin typeface="Trebuchet MS"/>
                <a:cs typeface="Trebuchet MS"/>
              </a:rPr>
              <a:t>GROUND</a:t>
            </a:r>
            <a:r>
              <a:rPr dirty="0" sz="1350" spc="-65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0" b="1">
                <a:solidFill>
                  <a:srgbClr val="F9FAFA"/>
                </a:solidFill>
                <a:latin typeface="Trebuchet MS"/>
                <a:cs typeface="Trebuchet MS"/>
              </a:rPr>
              <a:t>FORCES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252341" y="3492500"/>
            <a:ext cx="32321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140" b="1">
                <a:solidFill>
                  <a:srgbClr val="F9FAFA"/>
                </a:solidFill>
                <a:latin typeface="Trebuchet MS"/>
                <a:cs typeface="Trebuchet MS"/>
              </a:rPr>
              <a:t>LOW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66775" y="3872357"/>
            <a:ext cx="2334895" cy="42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25000"/>
              </a:lnSpc>
              <a:spcBef>
                <a:spcPts val="95"/>
              </a:spcBef>
            </a:pPr>
            <a:r>
              <a:rPr dirty="0" sz="1050" spc="-60">
                <a:solidFill>
                  <a:srgbClr val="F9FAFA"/>
                </a:solidFill>
                <a:latin typeface="Trebuchet MS"/>
                <a:cs typeface="Trebuchet MS"/>
              </a:rPr>
              <a:t>Mobile</a:t>
            </a:r>
            <a:r>
              <a:rPr dirty="0" sz="10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50">
                <a:solidFill>
                  <a:srgbClr val="F9FAFA"/>
                </a:solidFill>
                <a:latin typeface="Trebuchet MS"/>
                <a:cs typeface="Trebuchet MS"/>
              </a:rPr>
              <a:t>launchers</a:t>
            </a:r>
            <a:r>
              <a:rPr dirty="0" sz="10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60">
                <a:solidFill>
                  <a:srgbClr val="F9FAFA"/>
                </a:solidFill>
                <a:latin typeface="Trebuchet MS"/>
                <a:cs typeface="Trebuchet MS"/>
              </a:rPr>
              <a:t>provide</a:t>
            </a:r>
            <a:r>
              <a:rPr dirty="0" sz="1050" spc="-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35">
                <a:solidFill>
                  <a:srgbClr val="F9FAFA"/>
                </a:solidFill>
                <a:latin typeface="Trebuchet MS"/>
                <a:cs typeface="Trebuchet MS"/>
              </a:rPr>
              <a:t>high</a:t>
            </a:r>
            <a:r>
              <a:rPr dirty="0" sz="105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45">
                <a:solidFill>
                  <a:srgbClr val="F9FAFA"/>
                </a:solidFill>
                <a:latin typeface="Trebuchet MS"/>
                <a:cs typeface="Trebuchet MS"/>
              </a:rPr>
              <a:t>survivability </a:t>
            </a:r>
            <a:r>
              <a:rPr dirty="0" sz="1050" spc="-20">
                <a:solidFill>
                  <a:srgbClr val="F9FAFA"/>
                </a:solidFill>
                <a:latin typeface="Trebuchet MS"/>
                <a:cs typeface="Trebuchet MS"/>
              </a:rPr>
              <a:t>against</a:t>
            </a:r>
            <a:r>
              <a:rPr dirty="0" sz="1050" spc="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65">
                <a:solidFill>
                  <a:srgbClr val="F9FAFA"/>
                </a:solidFill>
                <a:latin typeface="Trebuchet MS"/>
                <a:cs typeface="Trebuchet MS"/>
              </a:rPr>
              <a:t>counter-</a:t>
            </a:r>
            <a:r>
              <a:rPr dirty="0" sz="1050" spc="-45">
                <a:solidFill>
                  <a:srgbClr val="F9FAFA"/>
                </a:solidFill>
                <a:latin typeface="Trebuchet MS"/>
                <a:cs typeface="Trebuchet MS"/>
              </a:rPr>
              <a:t>battery</a:t>
            </a:r>
            <a:r>
              <a:rPr dirty="0" sz="1050" spc="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20">
                <a:solidFill>
                  <a:srgbClr val="F9FAFA"/>
                </a:solidFill>
                <a:latin typeface="Trebuchet MS"/>
                <a:cs typeface="Trebuchet MS"/>
              </a:rPr>
              <a:t>fire.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3727703" y="3213100"/>
            <a:ext cx="3261360" cy="1404620"/>
            <a:chOff x="3727703" y="3213100"/>
            <a:chExt cx="3261360" cy="1404620"/>
          </a:xfrm>
        </p:grpSpPr>
        <p:sp>
          <p:nvSpPr>
            <p:cNvPr id="28" name="object 28" descr=""/>
            <p:cNvSpPr/>
            <p:nvPr/>
          </p:nvSpPr>
          <p:spPr>
            <a:xfrm>
              <a:off x="3727691" y="3213099"/>
              <a:ext cx="3261360" cy="1404620"/>
            </a:xfrm>
            <a:custGeom>
              <a:avLst/>
              <a:gdLst/>
              <a:ahLst/>
              <a:cxnLst/>
              <a:rect l="l" t="t" r="r" b="b"/>
              <a:pathLst>
                <a:path w="3261359" h="1404620">
                  <a:moveTo>
                    <a:pt x="3261360" y="0"/>
                  </a:moveTo>
                  <a:lnTo>
                    <a:pt x="0" y="0"/>
                  </a:lnTo>
                  <a:lnTo>
                    <a:pt x="0" y="130810"/>
                  </a:lnTo>
                  <a:lnTo>
                    <a:pt x="0" y="1273810"/>
                  </a:lnTo>
                  <a:lnTo>
                    <a:pt x="0" y="1404620"/>
                  </a:lnTo>
                  <a:lnTo>
                    <a:pt x="3261360" y="1404620"/>
                  </a:lnTo>
                  <a:lnTo>
                    <a:pt x="3261360" y="1273810"/>
                  </a:lnTo>
                  <a:lnTo>
                    <a:pt x="129921" y="1273810"/>
                  </a:lnTo>
                  <a:lnTo>
                    <a:pt x="129921" y="1273175"/>
                  </a:lnTo>
                  <a:lnTo>
                    <a:pt x="3130296" y="1273175"/>
                  </a:lnTo>
                  <a:lnTo>
                    <a:pt x="3261360" y="1273187"/>
                  </a:lnTo>
                  <a:lnTo>
                    <a:pt x="3261360" y="130810"/>
                  </a:lnTo>
                  <a:lnTo>
                    <a:pt x="3261360" y="130187"/>
                  </a:lnTo>
                  <a:lnTo>
                    <a:pt x="3261360" y="0"/>
                  </a:lnTo>
                  <a:close/>
                </a:path>
              </a:pathLst>
            </a:custGeom>
            <a:solidFill>
              <a:srgbClr val="DB252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62387" y="3348034"/>
              <a:ext cx="2990850" cy="1133475"/>
            </a:xfrm>
            <a:custGeom>
              <a:avLst/>
              <a:gdLst/>
              <a:ahLst/>
              <a:cxnLst/>
              <a:rect l="l" t="t" r="r" b="b"/>
              <a:pathLst>
                <a:path w="2990850" h="1133475">
                  <a:moveTo>
                    <a:pt x="0" y="0"/>
                  </a:moveTo>
                  <a:lnTo>
                    <a:pt x="2990849" y="0"/>
                  </a:lnTo>
                  <a:lnTo>
                    <a:pt x="2990849" y="1133474"/>
                  </a:lnTo>
                  <a:lnTo>
                    <a:pt x="0" y="11334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010025" y="3444875"/>
            <a:ext cx="2708275" cy="8915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  <a:tabLst>
                <a:tab pos="2077085" algn="l"/>
              </a:tabLst>
            </a:pPr>
            <a:r>
              <a:rPr dirty="0" sz="1350" spc="-100" b="1">
                <a:solidFill>
                  <a:srgbClr val="F9FAFA"/>
                </a:solidFill>
                <a:latin typeface="Trebuchet MS"/>
                <a:cs typeface="Trebuchet MS"/>
              </a:rPr>
              <a:t>CYBER</a:t>
            </a:r>
            <a:r>
              <a:rPr dirty="0" sz="1350" spc="-110" b="1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9FAFA"/>
                </a:solidFill>
                <a:latin typeface="Trebuchet MS"/>
                <a:cs typeface="Trebuchet MS"/>
              </a:rPr>
              <a:t>THREATS</a:t>
            </a:r>
            <a:r>
              <a:rPr dirty="0" sz="1350" b="1">
                <a:solidFill>
                  <a:srgbClr val="F9FAFA"/>
                </a:solidFill>
                <a:latin typeface="Trebuchet MS"/>
                <a:cs typeface="Trebuchet MS"/>
              </a:rPr>
              <a:t>	</a:t>
            </a:r>
            <a:r>
              <a:rPr dirty="0" sz="1350" spc="-100" b="1">
                <a:solidFill>
                  <a:srgbClr val="F9FAFA"/>
                </a:solidFill>
                <a:latin typeface="Trebuchet MS"/>
                <a:cs typeface="Trebuchet MS"/>
              </a:rPr>
              <a:t>CRITICAL</a:t>
            </a:r>
            <a:endParaRPr sz="1350">
              <a:latin typeface="Trebuchet MS"/>
              <a:cs typeface="Trebuchet MS"/>
            </a:endParaRPr>
          </a:p>
          <a:p>
            <a:pPr marR="475615">
              <a:lnSpc>
                <a:spcPct val="125000"/>
              </a:lnSpc>
              <a:spcBef>
                <a:spcPts val="15"/>
              </a:spcBef>
            </a:pPr>
            <a:r>
              <a:rPr dirty="0" sz="1050" spc="-50">
                <a:solidFill>
                  <a:srgbClr val="F9FAFA"/>
                </a:solidFill>
                <a:latin typeface="Trebuchet MS"/>
                <a:cs typeface="Trebuchet MS"/>
              </a:rPr>
              <a:t>High</a:t>
            </a:r>
            <a:r>
              <a:rPr dirty="0" sz="1050" spc="-1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55">
                <a:solidFill>
                  <a:srgbClr val="F9FAFA"/>
                </a:solidFill>
                <a:latin typeface="Trebuchet MS"/>
                <a:cs typeface="Trebuchet MS"/>
              </a:rPr>
              <a:t>risk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50">
                <a:solidFill>
                  <a:srgbClr val="F9FAFA"/>
                </a:solidFill>
                <a:latin typeface="Trebuchet MS"/>
                <a:cs typeface="Trebuchet MS"/>
              </a:rPr>
              <a:t>of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45">
                <a:solidFill>
                  <a:srgbClr val="F9FAFA"/>
                </a:solidFill>
                <a:latin typeface="Trebuchet MS"/>
                <a:cs typeface="Trebuchet MS"/>
              </a:rPr>
              <a:t>navigational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30">
                <a:solidFill>
                  <a:srgbClr val="F9FAFA"/>
                </a:solidFill>
                <a:latin typeface="Trebuchet MS"/>
                <a:cs typeface="Trebuchet MS"/>
              </a:rPr>
              <a:t>spoofing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 during </a:t>
            </a:r>
            <a:r>
              <a:rPr dirty="0" sz="1050" spc="-55">
                <a:solidFill>
                  <a:srgbClr val="F9FAFA"/>
                </a:solidFill>
                <a:latin typeface="Trebuchet MS"/>
                <a:cs typeface="Trebuchet MS"/>
              </a:rPr>
              <a:t>midcourse</a:t>
            </a:r>
            <a:r>
              <a:rPr dirty="0" sz="1050" spc="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60">
                <a:solidFill>
                  <a:srgbClr val="F9FAFA"/>
                </a:solidFill>
                <a:latin typeface="Trebuchet MS"/>
                <a:cs typeface="Trebuchet MS"/>
              </a:rPr>
              <a:t>phase.</a:t>
            </a:r>
            <a:r>
              <a:rPr dirty="0" sz="1050" spc="5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50">
                <a:solidFill>
                  <a:srgbClr val="F9FAFA"/>
                </a:solidFill>
                <a:latin typeface="Trebuchet MS"/>
                <a:cs typeface="Trebuchet MS"/>
              </a:rPr>
              <a:t>Quantum</a:t>
            </a:r>
            <a:r>
              <a:rPr dirty="0" sz="1050" spc="10">
                <a:solidFill>
                  <a:srgbClr val="F9FAFA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encryption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r>
              <a:rPr dirty="0" sz="1050" spc="-10">
                <a:solidFill>
                  <a:srgbClr val="F9FAFA"/>
                </a:solidFill>
                <a:latin typeface="Trebuchet MS"/>
                <a:cs typeface="Trebuchet MS"/>
              </a:rPr>
              <a:t>mandatory.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14374" y="4867909"/>
            <a:ext cx="1920239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ADVANCED</a:t>
            </a:r>
            <a:r>
              <a:rPr dirty="0" sz="9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9CA2AF"/>
                </a:solidFill>
                <a:latin typeface="Trebuchet MS"/>
                <a:cs typeface="Trebuchet MS"/>
              </a:rPr>
              <a:t>DEFENSE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SYSTEMS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DIVISION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828901" y="4867909"/>
            <a:ext cx="725170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50" spc="-85">
                <a:solidFill>
                  <a:srgbClr val="9CA2AF"/>
                </a:solidFill>
                <a:latin typeface="Trebuchet MS"/>
                <a:cs typeface="Trebuchet MS"/>
              </a:rPr>
              <a:t>PAGE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06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08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747891" y="4867909"/>
            <a:ext cx="11233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50" spc="-40">
                <a:solidFill>
                  <a:srgbClr val="9CA2AF"/>
                </a:solidFill>
                <a:latin typeface="Trebuchet MS"/>
                <a:cs typeface="Trebuchet MS"/>
              </a:rPr>
              <a:t>CLASSIFIED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70">
                <a:solidFill>
                  <a:srgbClr val="9CA2AF"/>
                </a:solidFill>
                <a:latin typeface="Trebuchet MS"/>
                <a:cs typeface="Trebuchet MS"/>
              </a:rPr>
              <a:t>DOCUMENT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428612" y="9524"/>
            <a:ext cx="6715125" cy="5334000"/>
          </a:xfrm>
          <a:custGeom>
            <a:avLst/>
            <a:gdLst/>
            <a:ahLst/>
            <a:cxnLst/>
            <a:rect l="l" t="t" r="r" b="b"/>
            <a:pathLst>
              <a:path w="6715125" h="5334000">
                <a:moveTo>
                  <a:pt x="190500" y="0"/>
                </a:moveTo>
                <a:lnTo>
                  <a:pt x="19050" y="0"/>
                </a:lnTo>
                <a:lnTo>
                  <a:pt x="0" y="0"/>
                </a:lnTo>
                <a:lnTo>
                  <a:pt x="0" y="19050"/>
                </a:lnTo>
                <a:lnTo>
                  <a:pt x="0" y="190500"/>
                </a:lnTo>
                <a:lnTo>
                  <a:pt x="19050" y="190500"/>
                </a:lnTo>
                <a:lnTo>
                  <a:pt x="19050" y="19050"/>
                </a:lnTo>
                <a:lnTo>
                  <a:pt x="190500" y="19050"/>
                </a:lnTo>
                <a:lnTo>
                  <a:pt x="190500" y="0"/>
                </a:lnTo>
                <a:close/>
              </a:path>
              <a:path w="6715125" h="5334000">
                <a:moveTo>
                  <a:pt x="6715125" y="5143500"/>
                </a:moveTo>
                <a:lnTo>
                  <a:pt x="6696075" y="5143500"/>
                </a:lnTo>
                <a:lnTo>
                  <a:pt x="6696075" y="5314950"/>
                </a:lnTo>
                <a:lnTo>
                  <a:pt x="6524625" y="5314950"/>
                </a:lnTo>
                <a:lnTo>
                  <a:pt x="6524625" y="5334000"/>
                </a:lnTo>
                <a:lnTo>
                  <a:pt x="6696075" y="5334000"/>
                </a:lnTo>
                <a:lnTo>
                  <a:pt x="6715125" y="5334000"/>
                </a:lnTo>
                <a:lnTo>
                  <a:pt x="6715125" y="5314950"/>
                </a:lnTo>
                <a:lnTo>
                  <a:pt x="6715125" y="5143500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19099" y="-2"/>
            <a:ext cx="6734175" cy="5543550"/>
            <a:chOff x="419099" y="-2"/>
            <a:chExt cx="6734175" cy="5543550"/>
          </a:xfrm>
        </p:grpSpPr>
        <p:sp>
          <p:nvSpPr>
            <p:cNvPr id="3" name="object 3" descr=""/>
            <p:cNvSpPr/>
            <p:nvPr/>
          </p:nvSpPr>
          <p:spPr>
            <a:xfrm>
              <a:off x="419099" y="-2"/>
              <a:ext cx="6734175" cy="5543550"/>
            </a:xfrm>
            <a:custGeom>
              <a:avLst/>
              <a:gdLst/>
              <a:ahLst/>
              <a:cxnLst/>
              <a:rect l="l" t="t" r="r" b="b"/>
              <a:pathLst>
                <a:path w="6734175" h="5543550">
                  <a:moveTo>
                    <a:pt x="6734174" y="5543549"/>
                  </a:moveTo>
                  <a:lnTo>
                    <a:pt x="0" y="5543549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5543549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23862" y="4759"/>
              <a:ext cx="6724650" cy="5534025"/>
            </a:xfrm>
            <a:custGeom>
              <a:avLst/>
              <a:gdLst/>
              <a:ahLst/>
              <a:cxnLst/>
              <a:rect l="l" t="t" r="r" b="b"/>
              <a:pathLst>
                <a:path w="6724650" h="5534025">
                  <a:moveTo>
                    <a:pt x="0" y="0"/>
                  </a:moveTo>
                  <a:lnTo>
                    <a:pt x="6724649" y="0"/>
                  </a:lnTo>
                  <a:lnTo>
                    <a:pt x="6724649" y="5534024"/>
                  </a:lnTo>
                  <a:lnTo>
                    <a:pt x="0" y="55340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4374" y="600072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14374" y="4962521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14374" y="288290"/>
            <a:ext cx="149352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SECTION: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PROJECTIONS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451573" y="288290"/>
            <a:ext cx="141922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TIMELINE:</a:t>
            </a:r>
            <a:r>
              <a:rPr dirty="0" sz="1050" spc="20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2026-</a:t>
            </a:r>
            <a:r>
              <a:rPr dirty="0" sz="1050" spc="-20">
                <a:solidFill>
                  <a:srgbClr val="EF4444"/>
                </a:solidFill>
                <a:latin typeface="Consolas"/>
                <a:cs typeface="Consolas"/>
              </a:rPr>
              <a:t>2030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MISSION</a:t>
            </a:r>
            <a:r>
              <a:rPr dirty="0" spc="425"/>
              <a:t> </a:t>
            </a:r>
            <a:r>
              <a:rPr dirty="0"/>
              <a:t>SUCCESS</a:t>
            </a:r>
            <a:r>
              <a:rPr dirty="0" spc="425"/>
              <a:t> </a:t>
            </a:r>
            <a:r>
              <a:rPr dirty="0" spc="-10"/>
              <a:t>TIMELINE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14374" y="5058409"/>
            <a:ext cx="1920239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ADVANCED</a:t>
            </a:r>
            <a:r>
              <a:rPr dirty="0" sz="9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9CA2AF"/>
                </a:solidFill>
                <a:latin typeface="Trebuchet MS"/>
                <a:cs typeface="Trebuchet MS"/>
              </a:rPr>
              <a:t>DEFENSE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SYSTEMS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DIVISION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835896" y="5058409"/>
            <a:ext cx="71056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50" spc="-85">
                <a:solidFill>
                  <a:srgbClr val="9CA2AF"/>
                </a:solidFill>
                <a:latin typeface="Trebuchet MS"/>
                <a:cs typeface="Trebuchet MS"/>
              </a:rPr>
              <a:t>PAGE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90">
                <a:solidFill>
                  <a:srgbClr val="9CA2AF"/>
                </a:solidFill>
                <a:latin typeface="Trebuchet MS"/>
                <a:cs typeface="Trebuchet MS"/>
              </a:rPr>
              <a:t>07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08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47891" y="5058409"/>
            <a:ext cx="112331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950" spc="-40">
                <a:solidFill>
                  <a:srgbClr val="9CA2AF"/>
                </a:solidFill>
                <a:latin typeface="Trebuchet MS"/>
                <a:cs typeface="Trebuchet MS"/>
              </a:rPr>
              <a:t>CLASSIFIED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70">
                <a:solidFill>
                  <a:srgbClr val="9CA2AF"/>
                </a:solidFill>
                <a:latin typeface="Trebuchet MS"/>
                <a:cs typeface="Trebuchet MS"/>
              </a:rPr>
              <a:t>DOCUMENT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28624" y="9522"/>
            <a:ext cx="6429375" cy="4572000"/>
            <a:chOff x="428624" y="9522"/>
            <a:chExt cx="6429375" cy="4572000"/>
          </a:xfrm>
        </p:grpSpPr>
        <p:sp>
          <p:nvSpPr>
            <p:cNvPr id="14" name="object 14" descr=""/>
            <p:cNvSpPr/>
            <p:nvPr/>
          </p:nvSpPr>
          <p:spPr>
            <a:xfrm>
              <a:off x="428612" y="952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190500"/>
                  </a:lnTo>
                  <a:lnTo>
                    <a:pt x="19050" y="190500"/>
                  </a:lnTo>
                  <a:lnTo>
                    <a:pt x="19050" y="19050"/>
                  </a:lnTo>
                  <a:lnTo>
                    <a:pt x="190500" y="190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14362" y="1724024"/>
              <a:ext cx="6143625" cy="2857500"/>
            </a:xfrm>
            <a:custGeom>
              <a:avLst/>
              <a:gdLst/>
              <a:ahLst/>
              <a:cxnLst/>
              <a:rect l="l" t="t" r="r" b="b"/>
              <a:pathLst>
                <a:path w="6143625" h="2857500">
                  <a:moveTo>
                    <a:pt x="6143625" y="2838450"/>
                  </a:moveTo>
                  <a:lnTo>
                    <a:pt x="19050" y="2838450"/>
                  </a:lnTo>
                  <a:lnTo>
                    <a:pt x="19050" y="0"/>
                  </a:lnTo>
                  <a:lnTo>
                    <a:pt x="0" y="0"/>
                  </a:lnTo>
                  <a:lnTo>
                    <a:pt x="0" y="2838450"/>
                  </a:lnTo>
                  <a:lnTo>
                    <a:pt x="0" y="2857500"/>
                  </a:lnTo>
                  <a:lnTo>
                    <a:pt x="19050" y="2857500"/>
                  </a:lnTo>
                  <a:lnTo>
                    <a:pt x="6143625" y="2857500"/>
                  </a:lnTo>
                  <a:lnTo>
                    <a:pt x="6143625" y="2838450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23924" y="2528887"/>
              <a:ext cx="5743575" cy="1228725"/>
            </a:xfrm>
            <a:custGeom>
              <a:avLst/>
              <a:gdLst/>
              <a:ahLst/>
              <a:cxnLst/>
              <a:rect l="l" t="t" r="r" b="b"/>
              <a:pathLst>
                <a:path w="5743575" h="1228725">
                  <a:moveTo>
                    <a:pt x="0" y="0"/>
                  </a:moveTo>
                  <a:lnTo>
                    <a:pt x="5743575" y="0"/>
                  </a:lnTo>
                </a:path>
                <a:path w="5743575" h="1228725">
                  <a:moveTo>
                    <a:pt x="0" y="614362"/>
                  </a:moveTo>
                  <a:lnTo>
                    <a:pt x="5743575" y="614362"/>
                  </a:lnTo>
                </a:path>
                <a:path w="5743575" h="1228725">
                  <a:moveTo>
                    <a:pt x="0" y="1228724"/>
                  </a:moveTo>
                  <a:lnTo>
                    <a:pt x="5743575" y="1228724"/>
                  </a:lnTo>
                </a:path>
              </a:pathLst>
            </a:custGeom>
            <a:ln w="1332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635060" y="2144007"/>
              <a:ext cx="4324985" cy="1631314"/>
            </a:xfrm>
            <a:custGeom>
              <a:avLst/>
              <a:gdLst/>
              <a:ahLst/>
              <a:cxnLst/>
              <a:rect l="l" t="t" r="r" b="b"/>
              <a:pathLst>
                <a:path w="4324985" h="1631314">
                  <a:moveTo>
                    <a:pt x="2152117" y="982248"/>
                  </a:moveTo>
                  <a:lnTo>
                    <a:pt x="4304356" y="0"/>
                  </a:lnTo>
                  <a:lnTo>
                    <a:pt x="4324627" y="32525"/>
                  </a:lnTo>
                  <a:lnTo>
                    <a:pt x="2244732" y="981757"/>
                  </a:lnTo>
                  <a:lnTo>
                    <a:pt x="2153840" y="981757"/>
                  </a:lnTo>
                  <a:lnTo>
                    <a:pt x="2152117" y="982248"/>
                  </a:lnTo>
                  <a:close/>
                </a:path>
                <a:path w="4324985" h="1631314">
                  <a:moveTo>
                    <a:pt x="2160651" y="999242"/>
                  </a:moveTo>
                  <a:lnTo>
                    <a:pt x="2150515" y="982979"/>
                  </a:lnTo>
                  <a:lnTo>
                    <a:pt x="2152117" y="982248"/>
                  </a:lnTo>
                  <a:lnTo>
                    <a:pt x="2153840" y="981757"/>
                  </a:lnTo>
                  <a:lnTo>
                    <a:pt x="2160651" y="999242"/>
                  </a:lnTo>
                  <a:close/>
                </a:path>
                <a:path w="4324985" h="1631314">
                  <a:moveTo>
                    <a:pt x="2206420" y="999242"/>
                  </a:moveTo>
                  <a:lnTo>
                    <a:pt x="2160651" y="999242"/>
                  </a:lnTo>
                  <a:lnTo>
                    <a:pt x="2153840" y="981757"/>
                  </a:lnTo>
                  <a:lnTo>
                    <a:pt x="2244732" y="981757"/>
                  </a:lnTo>
                  <a:lnTo>
                    <a:pt x="2206420" y="999242"/>
                  </a:lnTo>
                  <a:close/>
                </a:path>
                <a:path w="4324985" h="1631314">
                  <a:moveTo>
                    <a:pt x="13622" y="1631089"/>
                  </a:moveTo>
                  <a:lnTo>
                    <a:pt x="0" y="1596119"/>
                  </a:lnTo>
                  <a:lnTo>
                    <a:pt x="2152117" y="982248"/>
                  </a:lnTo>
                  <a:lnTo>
                    <a:pt x="2150515" y="982979"/>
                  </a:lnTo>
                  <a:lnTo>
                    <a:pt x="2160651" y="999242"/>
                  </a:lnTo>
                  <a:lnTo>
                    <a:pt x="2206420" y="999242"/>
                  </a:lnTo>
                  <a:lnTo>
                    <a:pt x="2169185" y="1016236"/>
                  </a:lnTo>
                  <a:lnTo>
                    <a:pt x="13622" y="1631089"/>
                  </a:lnTo>
                  <a:close/>
                </a:path>
              </a:pathLst>
            </a:custGeom>
            <a:solidFill>
              <a:srgbClr val="FABE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112" y="3695140"/>
              <a:ext cx="141517" cy="12494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4953" y="3080777"/>
              <a:ext cx="141517" cy="12494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8793" y="2097797"/>
              <a:ext cx="141518" cy="12494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990770" y="3966100"/>
            <a:ext cx="1315085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85">
                <a:solidFill>
                  <a:srgbClr val="9CA2AF"/>
                </a:solidFill>
                <a:latin typeface="Consolas"/>
                <a:cs typeface="Consolas"/>
              </a:rPr>
              <a:t>PHASE</a:t>
            </a:r>
            <a:r>
              <a:rPr dirty="0" sz="1150" spc="100">
                <a:solidFill>
                  <a:srgbClr val="9CA2AF"/>
                </a:solidFill>
                <a:latin typeface="Consolas"/>
                <a:cs typeface="Consolas"/>
              </a:rPr>
              <a:t> </a:t>
            </a:r>
            <a:r>
              <a:rPr dirty="0" sz="1150" spc="85">
                <a:solidFill>
                  <a:srgbClr val="9CA2AF"/>
                </a:solidFill>
                <a:latin typeface="Consolas"/>
                <a:cs typeface="Consolas"/>
              </a:rPr>
              <a:t>1</a:t>
            </a:r>
            <a:r>
              <a:rPr dirty="0" sz="1150" spc="105">
                <a:solidFill>
                  <a:srgbClr val="9CA2AF"/>
                </a:solidFill>
                <a:latin typeface="Consolas"/>
                <a:cs typeface="Consolas"/>
              </a:rPr>
              <a:t> </a:t>
            </a:r>
            <a:r>
              <a:rPr dirty="0" sz="1150" spc="75">
                <a:solidFill>
                  <a:srgbClr val="9CA2AF"/>
                </a:solidFill>
                <a:latin typeface="Consolas"/>
                <a:cs typeface="Consolas"/>
              </a:rPr>
              <a:t>(TEST)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144526" y="3966100"/>
            <a:ext cx="1315085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85">
                <a:solidFill>
                  <a:srgbClr val="9CA2AF"/>
                </a:solidFill>
                <a:latin typeface="Consolas"/>
                <a:cs typeface="Consolas"/>
              </a:rPr>
              <a:t>PHASE</a:t>
            </a:r>
            <a:r>
              <a:rPr dirty="0" sz="1150" spc="100">
                <a:solidFill>
                  <a:srgbClr val="9CA2AF"/>
                </a:solidFill>
                <a:latin typeface="Consolas"/>
                <a:cs typeface="Consolas"/>
              </a:rPr>
              <a:t> </a:t>
            </a:r>
            <a:r>
              <a:rPr dirty="0" sz="1150" spc="85">
                <a:solidFill>
                  <a:srgbClr val="9CA2AF"/>
                </a:solidFill>
                <a:latin typeface="Consolas"/>
                <a:cs typeface="Consolas"/>
              </a:rPr>
              <a:t>2</a:t>
            </a:r>
            <a:r>
              <a:rPr dirty="0" sz="1150" spc="105">
                <a:solidFill>
                  <a:srgbClr val="9CA2AF"/>
                </a:solidFill>
                <a:latin typeface="Consolas"/>
                <a:cs typeface="Consolas"/>
              </a:rPr>
              <a:t> </a:t>
            </a:r>
            <a:r>
              <a:rPr dirty="0" sz="1150" spc="75">
                <a:solidFill>
                  <a:srgbClr val="9CA2AF"/>
                </a:solidFill>
                <a:latin typeface="Consolas"/>
                <a:cs typeface="Consolas"/>
              </a:rPr>
              <a:t>(INTG)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205372" y="3966100"/>
            <a:ext cx="1501140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85">
                <a:solidFill>
                  <a:srgbClr val="9CA2AF"/>
                </a:solidFill>
                <a:latin typeface="Consolas"/>
                <a:cs typeface="Consolas"/>
              </a:rPr>
              <a:t>PHASE</a:t>
            </a:r>
            <a:r>
              <a:rPr dirty="0" sz="1150" spc="100">
                <a:solidFill>
                  <a:srgbClr val="9CA2AF"/>
                </a:solidFill>
                <a:latin typeface="Consolas"/>
                <a:cs typeface="Consolas"/>
              </a:rPr>
              <a:t> </a:t>
            </a:r>
            <a:r>
              <a:rPr dirty="0" sz="1150" spc="85">
                <a:solidFill>
                  <a:srgbClr val="9CA2AF"/>
                </a:solidFill>
                <a:latin typeface="Consolas"/>
                <a:cs typeface="Consolas"/>
              </a:rPr>
              <a:t>3</a:t>
            </a:r>
            <a:r>
              <a:rPr dirty="0" sz="1150" spc="105">
                <a:solidFill>
                  <a:srgbClr val="9CA2AF"/>
                </a:solidFill>
                <a:latin typeface="Consolas"/>
                <a:cs typeface="Consolas"/>
              </a:rPr>
              <a:t> </a:t>
            </a:r>
            <a:r>
              <a:rPr dirty="0" sz="1150" spc="70">
                <a:solidFill>
                  <a:srgbClr val="9CA2AF"/>
                </a:solidFill>
                <a:latin typeface="Consolas"/>
                <a:cs typeface="Consolas"/>
              </a:rPr>
              <a:t>(DEPLOY)</a:t>
            </a:r>
            <a:endParaRPr sz="1150">
              <a:latin typeface="Consolas"/>
              <a:cs typeface="Consola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505861" y="3474557"/>
            <a:ext cx="285115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50">
                <a:solidFill>
                  <a:srgbClr val="FFFFFF"/>
                </a:solidFill>
                <a:latin typeface="Trebuchet MS"/>
                <a:cs typeface="Trebuchet MS"/>
              </a:rPr>
              <a:t>75%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647624" y="2860264"/>
            <a:ext cx="308610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114">
                <a:solidFill>
                  <a:srgbClr val="FFFFFF"/>
                </a:solidFill>
                <a:latin typeface="Trebuchet MS"/>
                <a:cs typeface="Trebuchet MS"/>
              </a:rPr>
              <a:t>85%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803460" y="1938619"/>
            <a:ext cx="305435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spc="105">
                <a:solidFill>
                  <a:srgbClr val="FFFFFF"/>
                </a:solidFill>
                <a:latin typeface="Trebuchet MS"/>
                <a:cs typeface="Trebuchet MS"/>
              </a:rPr>
              <a:t>95%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6953237" y="5343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190500"/>
                </a:lnTo>
                <a:lnTo>
                  <a:pt x="171450" y="190500"/>
                </a:lnTo>
                <a:lnTo>
                  <a:pt x="190500" y="190500"/>
                </a:lnTo>
                <a:lnTo>
                  <a:pt x="190500" y="171450"/>
                </a:lnTo>
                <a:lnTo>
                  <a:pt x="190500" y="0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2"/>
            <a:ext cx="7568565" cy="9067800"/>
          </a:xfrm>
          <a:custGeom>
            <a:avLst/>
            <a:gdLst/>
            <a:ahLst/>
            <a:cxnLst/>
            <a:rect l="l" t="t" r="r" b="b"/>
            <a:pathLst>
              <a:path w="7568565" h="9067800">
                <a:moveTo>
                  <a:pt x="7568183" y="9067798"/>
                </a:moveTo>
                <a:lnTo>
                  <a:pt x="0" y="9067798"/>
                </a:lnTo>
                <a:lnTo>
                  <a:pt x="0" y="0"/>
                </a:lnTo>
                <a:lnTo>
                  <a:pt x="7568183" y="0"/>
                </a:lnTo>
                <a:lnTo>
                  <a:pt x="7568183" y="9067798"/>
                </a:lnTo>
                <a:close/>
              </a:path>
            </a:pathLst>
          </a:custGeom>
          <a:solidFill>
            <a:srgbClr val="090D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534274" y="-1"/>
            <a:ext cx="34290" cy="9067800"/>
          </a:xfrm>
          <a:custGeom>
            <a:avLst/>
            <a:gdLst/>
            <a:ahLst/>
            <a:cxnLst/>
            <a:rect l="l" t="t" r="r" b="b"/>
            <a:pathLst>
              <a:path w="34290" h="9067800">
                <a:moveTo>
                  <a:pt x="33909" y="9067798"/>
                </a:moveTo>
                <a:lnTo>
                  <a:pt x="0" y="9067798"/>
                </a:lnTo>
                <a:lnTo>
                  <a:pt x="0" y="0"/>
                </a:lnTo>
                <a:lnTo>
                  <a:pt x="33909" y="0"/>
                </a:lnTo>
                <a:lnTo>
                  <a:pt x="33909" y="9067798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-3"/>
            <a:ext cx="38100" cy="9067800"/>
          </a:xfrm>
          <a:custGeom>
            <a:avLst/>
            <a:gdLst/>
            <a:ahLst/>
            <a:cxnLst/>
            <a:rect l="l" t="t" r="r" b="b"/>
            <a:pathLst>
              <a:path w="38100" h="9067800">
                <a:moveTo>
                  <a:pt x="38099" y="9067799"/>
                </a:moveTo>
                <a:lnTo>
                  <a:pt x="0" y="9067799"/>
                </a:lnTo>
                <a:lnTo>
                  <a:pt x="0" y="0"/>
                </a:lnTo>
                <a:lnTo>
                  <a:pt x="38099" y="0"/>
                </a:lnTo>
                <a:lnTo>
                  <a:pt x="38099" y="9067799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19099" y="-3"/>
            <a:ext cx="6734175" cy="7924800"/>
            <a:chOff x="419099" y="-3"/>
            <a:chExt cx="6734175" cy="7924800"/>
          </a:xfrm>
        </p:grpSpPr>
        <p:sp>
          <p:nvSpPr>
            <p:cNvPr id="6" name="object 6" descr=""/>
            <p:cNvSpPr/>
            <p:nvPr/>
          </p:nvSpPr>
          <p:spPr>
            <a:xfrm>
              <a:off x="419099" y="-3"/>
              <a:ext cx="6734175" cy="7924800"/>
            </a:xfrm>
            <a:custGeom>
              <a:avLst/>
              <a:gdLst/>
              <a:ahLst/>
              <a:cxnLst/>
              <a:rect l="l" t="t" r="r" b="b"/>
              <a:pathLst>
                <a:path w="6734175" h="7924800">
                  <a:moveTo>
                    <a:pt x="6734174" y="7924799"/>
                  </a:moveTo>
                  <a:lnTo>
                    <a:pt x="0" y="7924799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7924799"/>
                  </a:lnTo>
                  <a:close/>
                </a:path>
              </a:pathLst>
            </a:custGeom>
            <a:solidFill>
              <a:srgbClr val="111726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9099" y="-3"/>
              <a:ext cx="6734175" cy="9525"/>
            </a:xfrm>
            <a:custGeom>
              <a:avLst/>
              <a:gdLst/>
              <a:ahLst/>
              <a:cxnLst/>
              <a:rect l="l" t="t" r="r" b="b"/>
              <a:pathLst>
                <a:path w="6734175" h="9525">
                  <a:moveTo>
                    <a:pt x="673417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9099" y="7886696"/>
              <a:ext cx="6734175" cy="38100"/>
            </a:xfrm>
            <a:custGeom>
              <a:avLst/>
              <a:gdLst/>
              <a:ahLst/>
              <a:cxnLst/>
              <a:rect l="l" t="t" r="r" b="b"/>
              <a:pathLst>
                <a:path w="6734175" h="38100">
                  <a:moveTo>
                    <a:pt x="6734174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6734174" y="0"/>
                  </a:lnTo>
                  <a:lnTo>
                    <a:pt x="6734174" y="380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19087" y="0"/>
              <a:ext cx="6734175" cy="7924800"/>
            </a:xfrm>
            <a:custGeom>
              <a:avLst/>
              <a:gdLst/>
              <a:ahLst/>
              <a:cxnLst/>
              <a:rect l="l" t="t" r="r" b="b"/>
              <a:pathLst>
                <a:path w="6734175" h="7924800">
                  <a:moveTo>
                    <a:pt x="9525" y="0"/>
                  </a:moveTo>
                  <a:lnTo>
                    <a:pt x="0" y="0"/>
                  </a:lnTo>
                  <a:lnTo>
                    <a:pt x="0" y="7924800"/>
                  </a:lnTo>
                  <a:lnTo>
                    <a:pt x="9525" y="7886700"/>
                  </a:lnTo>
                  <a:lnTo>
                    <a:pt x="9525" y="0"/>
                  </a:lnTo>
                  <a:close/>
                </a:path>
                <a:path w="6734175" h="7924800">
                  <a:moveTo>
                    <a:pt x="6734175" y="0"/>
                  </a:moveTo>
                  <a:lnTo>
                    <a:pt x="6724650" y="0"/>
                  </a:lnTo>
                  <a:lnTo>
                    <a:pt x="6724650" y="7886700"/>
                  </a:lnTo>
                  <a:lnTo>
                    <a:pt x="6734175" y="7924800"/>
                  </a:lnTo>
                  <a:lnTo>
                    <a:pt x="6734175" y="0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14374" y="600071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4374" y="7315196"/>
              <a:ext cx="6143625" cy="9525"/>
            </a:xfrm>
            <a:custGeom>
              <a:avLst/>
              <a:gdLst/>
              <a:ahLst/>
              <a:cxnLst/>
              <a:rect l="l" t="t" r="r" b="b"/>
              <a:pathLst>
                <a:path w="6143625" h="9525">
                  <a:moveTo>
                    <a:pt x="61436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6143624" y="0"/>
                  </a:lnTo>
                  <a:lnTo>
                    <a:pt x="6143624" y="9524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01674" y="288290"/>
            <a:ext cx="143192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SECTION:</a:t>
            </a:r>
            <a:r>
              <a:rPr dirty="0" sz="1050" spc="1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BLUEPRINTS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12841" y="288290"/>
            <a:ext cx="13582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EF4444"/>
                </a:solidFill>
                <a:latin typeface="Consolas"/>
                <a:cs typeface="Consolas"/>
              </a:rPr>
              <a:t>CLASS:</a:t>
            </a:r>
            <a:r>
              <a:rPr dirty="0" sz="1050" spc="10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050" spc="-10">
                <a:solidFill>
                  <a:srgbClr val="EF4444"/>
                </a:solidFill>
                <a:latin typeface="Consolas"/>
                <a:cs typeface="Consolas"/>
              </a:rPr>
              <a:t>ENGINEERING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TECHNICAL</a:t>
            </a:r>
            <a:r>
              <a:rPr dirty="0" spc="530"/>
              <a:t> </a:t>
            </a:r>
            <a:r>
              <a:rPr dirty="0" spc="-10"/>
              <a:t>COMPONENTS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701674" y="7411084"/>
            <a:ext cx="1932939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ADVANCED</a:t>
            </a:r>
            <a:r>
              <a:rPr dirty="0" sz="950" spc="-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5">
                <a:solidFill>
                  <a:srgbClr val="9CA2AF"/>
                </a:solidFill>
                <a:latin typeface="Trebuchet MS"/>
                <a:cs typeface="Trebuchet MS"/>
              </a:rPr>
              <a:t>DEFENSE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SYSTEMS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DIVISION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17553" y="7411084"/>
            <a:ext cx="740410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85">
                <a:solidFill>
                  <a:srgbClr val="9CA2AF"/>
                </a:solidFill>
                <a:latin typeface="Trebuchet MS"/>
                <a:cs typeface="Trebuchet MS"/>
              </a:rPr>
              <a:t>PAGE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>
                <a:solidFill>
                  <a:srgbClr val="9CA2AF"/>
                </a:solidFill>
                <a:latin typeface="Trebuchet MS"/>
                <a:cs typeface="Trebuchet MS"/>
              </a:rPr>
              <a:t>08</a:t>
            </a:r>
            <a:r>
              <a:rPr dirty="0" sz="950" spc="-3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 08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940424" y="7411084"/>
            <a:ext cx="93027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END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05">
                <a:solidFill>
                  <a:srgbClr val="9CA2AF"/>
                </a:solidFill>
                <a:latin typeface="Trebuchet MS"/>
                <a:cs typeface="Trebuchet MS"/>
              </a:rPr>
              <a:t>OF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75">
                <a:solidFill>
                  <a:srgbClr val="9CA2AF"/>
                </a:solidFill>
                <a:latin typeface="Trebuchet MS"/>
                <a:cs typeface="Trebuchet MS"/>
              </a:rPr>
              <a:t>DOCUMENT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28624" y="9521"/>
            <a:ext cx="3267075" cy="4133850"/>
            <a:chOff x="428624" y="9521"/>
            <a:chExt cx="3267075" cy="4133850"/>
          </a:xfrm>
        </p:grpSpPr>
        <p:sp>
          <p:nvSpPr>
            <p:cNvPr id="19" name="object 19" descr=""/>
            <p:cNvSpPr/>
            <p:nvPr/>
          </p:nvSpPr>
          <p:spPr>
            <a:xfrm>
              <a:off x="428612" y="952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0"/>
                  </a:moveTo>
                  <a:lnTo>
                    <a:pt x="190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190500"/>
                  </a:lnTo>
                  <a:lnTo>
                    <a:pt x="19050" y="190500"/>
                  </a:lnTo>
                  <a:lnTo>
                    <a:pt x="19050" y="19050"/>
                  </a:lnTo>
                  <a:lnTo>
                    <a:pt x="190500" y="190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4374" y="1704971"/>
              <a:ext cx="2981325" cy="2438400"/>
            </a:xfrm>
            <a:custGeom>
              <a:avLst/>
              <a:gdLst/>
              <a:ahLst/>
              <a:cxnLst/>
              <a:rect l="l" t="t" r="r" b="b"/>
              <a:pathLst>
                <a:path w="2981325" h="2438400">
                  <a:moveTo>
                    <a:pt x="2981324" y="2438399"/>
                  </a:moveTo>
                  <a:lnTo>
                    <a:pt x="0" y="2438399"/>
                  </a:lnTo>
                  <a:lnTo>
                    <a:pt x="0" y="0"/>
                  </a:lnTo>
                  <a:lnTo>
                    <a:pt x="2981324" y="0"/>
                  </a:lnTo>
                  <a:lnTo>
                    <a:pt x="2981324" y="2438399"/>
                  </a:lnTo>
                  <a:close/>
                </a:path>
              </a:pathLst>
            </a:custGeom>
            <a:solidFill>
              <a:srgbClr val="3B81F5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19137" y="1709734"/>
              <a:ext cx="2971800" cy="2428875"/>
            </a:xfrm>
            <a:custGeom>
              <a:avLst/>
              <a:gdLst/>
              <a:ahLst/>
              <a:cxnLst/>
              <a:rect l="l" t="t" r="r" b="b"/>
              <a:pathLst>
                <a:path w="2971800" h="2428875">
                  <a:moveTo>
                    <a:pt x="0" y="0"/>
                  </a:moveTo>
                  <a:lnTo>
                    <a:pt x="2971799" y="0"/>
                  </a:lnTo>
                  <a:lnTo>
                    <a:pt x="2971799" y="2428874"/>
                  </a:lnTo>
                  <a:lnTo>
                    <a:pt x="0" y="2428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43225" y="3062049"/>
              <a:ext cx="2319020" cy="257810"/>
            </a:xfrm>
            <a:custGeom>
              <a:avLst/>
              <a:gdLst/>
              <a:ahLst/>
              <a:cxnLst/>
              <a:rect l="l" t="t" r="r" b="b"/>
              <a:pathLst>
                <a:path w="2319020" h="257810">
                  <a:moveTo>
                    <a:pt x="0" y="0"/>
                  </a:moveTo>
                  <a:lnTo>
                    <a:pt x="1803558" y="0"/>
                  </a:lnTo>
                  <a:lnTo>
                    <a:pt x="1803558" y="257651"/>
                  </a:lnTo>
                  <a:lnTo>
                    <a:pt x="0" y="257651"/>
                  </a:lnTo>
                  <a:lnTo>
                    <a:pt x="0" y="0"/>
                  </a:lnTo>
                  <a:close/>
                </a:path>
                <a:path w="2319020" h="257810">
                  <a:moveTo>
                    <a:pt x="1803558" y="0"/>
                  </a:moveTo>
                  <a:lnTo>
                    <a:pt x="2318861" y="128825"/>
                  </a:lnTo>
                  <a:lnTo>
                    <a:pt x="1803558" y="257651"/>
                  </a:lnTo>
                  <a:lnTo>
                    <a:pt x="1803558" y="0"/>
                  </a:lnTo>
                  <a:close/>
                </a:path>
              </a:pathLst>
            </a:custGeom>
            <a:ln w="12882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72051" y="3087814"/>
              <a:ext cx="386715" cy="206375"/>
            </a:xfrm>
            <a:custGeom>
              <a:avLst/>
              <a:gdLst/>
              <a:ahLst/>
              <a:cxnLst/>
              <a:rect l="l" t="t" r="r" b="b"/>
              <a:pathLst>
                <a:path w="386715" h="206375">
                  <a:moveTo>
                    <a:pt x="386476" y="206120"/>
                  </a:moveTo>
                  <a:lnTo>
                    <a:pt x="0" y="206120"/>
                  </a:lnTo>
                  <a:lnTo>
                    <a:pt x="0" y="0"/>
                  </a:lnTo>
                  <a:lnTo>
                    <a:pt x="386476" y="0"/>
                  </a:lnTo>
                  <a:lnTo>
                    <a:pt x="386476" y="20612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331481" y="3087814"/>
              <a:ext cx="257810" cy="206375"/>
            </a:xfrm>
            <a:custGeom>
              <a:avLst/>
              <a:gdLst/>
              <a:ahLst/>
              <a:cxnLst/>
              <a:rect l="l" t="t" r="r" b="b"/>
              <a:pathLst>
                <a:path w="257810" h="206375">
                  <a:moveTo>
                    <a:pt x="257651" y="206120"/>
                  </a:moveTo>
                  <a:lnTo>
                    <a:pt x="0" y="206120"/>
                  </a:lnTo>
                  <a:lnTo>
                    <a:pt x="0" y="0"/>
                  </a:lnTo>
                  <a:lnTo>
                    <a:pt x="257651" y="0"/>
                  </a:lnTo>
                  <a:lnTo>
                    <a:pt x="257651" y="206120"/>
                  </a:lnTo>
                  <a:close/>
                </a:path>
              </a:pathLst>
            </a:custGeom>
            <a:solidFill>
              <a:srgbClr val="EF4444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76287" y="1766887"/>
            <a:ext cx="2857500" cy="2314575"/>
          </a:xfrm>
          <a:prstGeom prst="rect">
            <a:avLst/>
          </a:prstGeom>
          <a:ln w="9524">
            <a:solidFill>
              <a:srgbClr val="3B81F5"/>
            </a:solidFill>
          </a:ln>
        </p:spPr>
        <p:txBody>
          <a:bodyPr wrap="square" lIns="0" tIns="88265" rIns="0" bIns="0" rtlCol="0" vert="horz">
            <a:spAutoFit/>
          </a:bodyPr>
          <a:lstStyle/>
          <a:p>
            <a:pPr marL="137795" marR="844550">
              <a:lnSpc>
                <a:spcPct val="118100"/>
              </a:lnSpc>
              <a:spcBef>
                <a:spcPts val="695"/>
              </a:spcBef>
            </a:pPr>
            <a:r>
              <a:rPr dirty="0" sz="1800">
                <a:solidFill>
                  <a:srgbClr val="3B81F5"/>
                </a:solidFill>
                <a:latin typeface="Consolas"/>
                <a:cs typeface="Consolas"/>
              </a:rPr>
              <a:t>MISSILE</a:t>
            </a:r>
            <a:r>
              <a:rPr dirty="0" sz="1800" spc="495">
                <a:solidFill>
                  <a:srgbClr val="3B81F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3B81F5"/>
                </a:solidFill>
                <a:latin typeface="Consolas"/>
                <a:cs typeface="Consolas"/>
              </a:rPr>
              <a:t>CROSS- SECTION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650">
              <a:latin typeface="Consolas"/>
              <a:cs typeface="Consolas"/>
            </a:endParaRPr>
          </a:p>
          <a:p>
            <a:pPr marL="137795">
              <a:lnSpc>
                <a:spcPct val="100000"/>
              </a:lnSpc>
            </a:pPr>
            <a:r>
              <a:rPr dirty="0" sz="950" spc="-60">
                <a:solidFill>
                  <a:srgbClr val="9CA2AF"/>
                </a:solidFill>
                <a:latin typeface="Trebuchet MS"/>
                <a:cs typeface="Trebuchet MS"/>
              </a:rPr>
              <a:t>Fig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00">
                <a:solidFill>
                  <a:srgbClr val="9CA2AF"/>
                </a:solidFill>
                <a:latin typeface="Trebuchet MS"/>
                <a:cs typeface="Trebuchet MS"/>
              </a:rPr>
              <a:t>1.1: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70">
                <a:solidFill>
                  <a:srgbClr val="9CA2AF"/>
                </a:solidFill>
                <a:latin typeface="Trebuchet MS"/>
                <a:cs typeface="Trebuchet MS"/>
              </a:rPr>
              <a:t>Airframe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Integration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886199" y="1704971"/>
            <a:ext cx="2971800" cy="2438400"/>
            <a:chOff x="3886199" y="1704971"/>
            <a:chExt cx="2971800" cy="2438400"/>
          </a:xfrm>
        </p:grpSpPr>
        <p:sp>
          <p:nvSpPr>
            <p:cNvPr id="27" name="object 27" descr=""/>
            <p:cNvSpPr/>
            <p:nvPr/>
          </p:nvSpPr>
          <p:spPr>
            <a:xfrm>
              <a:off x="3886199" y="1704971"/>
              <a:ext cx="2971800" cy="2438400"/>
            </a:xfrm>
            <a:custGeom>
              <a:avLst/>
              <a:gdLst/>
              <a:ahLst/>
              <a:cxnLst/>
              <a:rect l="l" t="t" r="r" b="b"/>
              <a:pathLst>
                <a:path w="2971800" h="2438400">
                  <a:moveTo>
                    <a:pt x="2971799" y="2438399"/>
                  </a:moveTo>
                  <a:lnTo>
                    <a:pt x="0" y="2438399"/>
                  </a:lnTo>
                  <a:lnTo>
                    <a:pt x="0" y="0"/>
                  </a:lnTo>
                  <a:lnTo>
                    <a:pt x="2971799" y="0"/>
                  </a:lnTo>
                  <a:lnTo>
                    <a:pt x="2971799" y="2438399"/>
                  </a:lnTo>
                  <a:close/>
                </a:path>
              </a:pathLst>
            </a:custGeom>
            <a:solidFill>
              <a:srgbClr val="3B81F5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890962" y="1709734"/>
              <a:ext cx="2962275" cy="2428875"/>
            </a:xfrm>
            <a:custGeom>
              <a:avLst/>
              <a:gdLst/>
              <a:ahLst/>
              <a:cxnLst/>
              <a:rect l="l" t="t" r="r" b="b"/>
              <a:pathLst>
                <a:path w="2962275" h="2428875">
                  <a:moveTo>
                    <a:pt x="0" y="0"/>
                  </a:moveTo>
                  <a:lnTo>
                    <a:pt x="2962274" y="0"/>
                  </a:lnTo>
                  <a:lnTo>
                    <a:pt x="2962274" y="2428874"/>
                  </a:lnTo>
                  <a:lnTo>
                    <a:pt x="0" y="2428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116829" y="2618898"/>
              <a:ext cx="515620" cy="515620"/>
            </a:xfrm>
            <a:custGeom>
              <a:avLst/>
              <a:gdLst/>
              <a:ahLst/>
              <a:cxnLst/>
              <a:rect l="l" t="t" r="r" b="b"/>
              <a:pathLst>
                <a:path w="515620" h="515619">
                  <a:moveTo>
                    <a:pt x="515302" y="257651"/>
                  </a:moveTo>
                  <a:lnTo>
                    <a:pt x="515302" y="266089"/>
                  </a:lnTo>
                  <a:lnTo>
                    <a:pt x="514888" y="274507"/>
                  </a:lnTo>
                  <a:lnTo>
                    <a:pt x="514061" y="282905"/>
                  </a:lnTo>
                  <a:lnTo>
                    <a:pt x="513234" y="291303"/>
                  </a:lnTo>
                  <a:lnTo>
                    <a:pt x="511997" y="299640"/>
                  </a:lnTo>
                  <a:lnTo>
                    <a:pt x="510351" y="307916"/>
                  </a:lnTo>
                  <a:lnTo>
                    <a:pt x="508705" y="316192"/>
                  </a:lnTo>
                  <a:lnTo>
                    <a:pt x="506657" y="324368"/>
                  </a:lnTo>
                  <a:lnTo>
                    <a:pt x="504207" y="332443"/>
                  </a:lnTo>
                  <a:lnTo>
                    <a:pt x="501758" y="340518"/>
                  </a:lnTo>
                  <a:lnTo>
                    <a:pt x="498919" y="348454"/>
                  </a:lnTo>
                  <a:lnTo>
                    <a:pt x="495689" y="356250"/>
                  </a:lnTo>
                  <a:lnTo>
                    <a:pt x="492460" y="364046"/>
                  </a:lnTo>
                  <a:lnTo>
                    <a:pt x="471880" y="400794"/>
                  </a:lnTo>
                  <a:lnTo>
                    <a:pt x="467192" y="407810"/>
                  </a:lnTo>
                  <a:lnTo>
                    <a:pt x="439838" y="439838"/>
                  </a:lnTo>
                  <a:lnTo>
                    <a:pt x="407810" y="467192"/>
                  </a:lnTo>
                  <a:lnTo>
                    <a:pt x="400794" y="471880"/>
                  </a:lnTo>
                  <a:lnTo>
                    <a:pt x="393778" y="476568"/>
                  </a:lnTo>
                  <a:lnTo>
                    <a:pt x="386549" y="480901"/>
                  </a:lnTo>
                  <a:lnTo>
                    <a:pt x="379106" y="484879"/>
                  </a:lnTo>
                  <a:lnTo>
                    <a:pt x="371665" y="488857"/>
                  </a:lnTo>
                  <a:lnTo>
                    <a:pt x="364046" y="492460"/>
                  </a:lnTo>
                  <a:lnTo>
                    <a:pt x="356249" y="495689"/>
                  </a:lnTo>
                  <a:lnTo>
                    <a:pt x="348453" y="498919"/>
                  </a:lnTo>
                  <a:lnTo>
                    <a:pt x="340518" y="501758"/>
                  </a:lnTo>
                  <a:lnTo>
                    <a:pt x="332443" y="504208"/>
                  </a:lnTo>
                  <a:lnTo>
                    <a:pt x="324368" y="506657"/>
                  </a:lnTo>
                  <a:lnTo>
                    <a:pt x="316192" y="508705"/>
                  </a:lnTo>
                  <a:lnTo>
                    <a:pt x="307916" y="510351"/>
                  </a:lnTo>
                  <a:lnTo>
                    <a:pt x="299640" y="511997"/>
                  </a:lnTo>
                  <a:lnTo>
                    <a:pt x="291303" y="513234"/>
                  </a:lnTo>
                  <a:lnTo>
                    <a:pt x="282905" y="514061"/>
                  </a:lnTo>
                  <a:lnTo>
                    <a:pt x="274507" y="514888"/>
                  </a:lnTo>
                  <a:lnTo>
                    <a:pt x="266089" y="515302"/>
                  </a:lnTo>
                  <a:lnTo>
                    <a:pt x="257651" y="515302"/>
                  </a:lnTo>
                  <a:lnTo>
                    <a:pt x="249212" y="515302"/>
                  </a:lnTo>
                  <a:lnTo>
                    <a:pt x="240794" y="514888"/>
                  </a:lnTo>
                  <a:lnTo>
                    <a:pt x="232397" y="514061"/>
                  </a:lnTo>
                  <a:lnTo>
                    <a:pt x="223999" y="513234"/>
                  </a:lnTo>
                  <a:lnTo>
                    <a:pt x="215662" y="511998"/>
                  </a:lnTo>
                  <a:lnTo>
                    <a:pt x="207385" y="510351"/>
                  </a:lnTo>
                  <a:lnTo>
                    <a:pt x="199109" y="508705"/>
                  </a:lnTo>
                  <a:lnTo>
                    <a:pt x="159052" y="495689"/>
                  </a:lnTo>
                  <a:lnTo>
                    <a:pt x="151256" y="492460"/>
                  </a:lnTo>
                  <a:lnTo>
                    <a:pt x="143637" y="488857"/>
                  </a:lnTo>
                  <a:lnTo>
                    <a:pt x="136195" y="484879"/>
                  </a:lnTo>
                  <a:lnTo>
                    <a:pt x="128753" y="480901"/>
                  </a:lnTo>
                  <a:lnTo>
                    <a:pt x="94198" y="456818"/>
                  </a:lnTo>
                  <a:lnTo>
                    <a:pt x="63837" y="427626"/>
                  </a:lnTo>
                  <a:lnTo>
                    <a:pt x="38733" y="393778"/>
                  </a:lnTo>
                  <a:lnTo>
                    <a:pt x="19612" y="356250"/>
                  </a:lnTo>
                  <a:lnTo>
                    <a:pt x="6596" y="316192"/>
                  </a:lnTo>
                  <a:lnTo>
                    <a:pt x="4950" y="307916"/>
                  </a:lnTo>
                  <a:lnTo>
                    <a:pt x="3304" y="299640"/>
                  </a:lnTo>
                  <a:lnTo>
                    <a:pt x="2067" y="291303"/>
                  </a:lnTo>
                  <a:lnTo>
                    <a:pt x="1240" y="282905"/>
                  </a:lnTo>
                  <a:lnTo>
                    <a:pt x="413" y="274507"/>
                  </a:lnTo>
                  <a:lnTo>
                    <a:pt x="0" y="266089"/>
                  </a:lnTo>
                  <a:lnTo>
                    <a:pt x="0" y="257651"/>
                  </a:lnTo>
                  <a:lnTo>
                    <a:pt x="0" y="249212"/>
                  </a:lnTo>
                  <a:lnTo>
                    <a:pt x="413" y="240794"/>
                  </a:lnTo>
                  <a:lnTo>
                    <a:pt x="1240" y="232396"/>
                  </a:lnTo>
                  <a:lnTo>
                    <a:pt x="2067" y="223999"/>
                  </a:lnTo>
                  <a:lnTo>
                    <a:pt x="3304" y="215662"/>
                  </a:lnTo>
                  <a:lnTo>
                    <a:pt x="4950" y="207385"/>
                  </a:lnTo>
                  <a:lnTo>
                    <a:pt x="6596" y="199109"/>
                  </a:lnTo>
                  <a:lnTo>
                    <a:pt x="8644" y="190934"/>
                  </a:lnTo>
                  <a:lnTo>
                    <a:pt x="11094" y="182859"/>
                  </a:lnTo>
                  <a:lnTo>
                    <a:pt x="13543" y="174783"/>
                  </a:lnTo>
                  <a:lnTo>
                    <a:pt x="30423" y="136195"/>
                  </a:lnTo>
                  <a:lnTo>
                    <a:pt x="34400" y="128753"/>
                  </a:lnTo>
                  <a:lnTo>
                    <a:pt x="58483" y="94199"/>
                  </a:lnTo>
                  <a:lnTo>
                    <a:pt x="87675" y="63837"/>
                  </a:lnTo>
                  <a:lnTo>
                    <a:pt x="94198" y="58484"/>
                  </a:lnTo>
                  <a:lnTo>
                    <a:pt x="100721" y="53130"/>
                  </a:lnTo>
                  <a:lnTo>
                    <a:pt x="136195" y="30423"/>
                  </a:lnTo>
                  <a:lnTo>
                    <a:pt x="143637" y="26445"/>
                  </a:lnTo>
                  <a:lnTo>
                    <a:pt x="182858" y="11094"/>
                  </a:lnTo>
                  <a:lnTo>
                    <a:pt x="190934" y="8644"/>
                  </a:lnTo>
                  <a:lnTo>
                    <a:pt x="232397" y="1240"/>
                  </a:lnTo>
                  <a:lnTo>
                    <a:pt x="257651" y="0"/>
                  </a:lnTo>
                  <a:lnTo>
                    <a:pt x="266089" y="0"/>
                  </a:lnTo>
                  <a:lnTo>
                    <a:pt x="307916" y="4950"/>
                  </a:lnTo>
                  <a:lnTo>
                    <a:pt x="316192" y="6596"/>
                  </a:lnTo>
                  <a:lnTo>
                    <a:pt x="324368" y="8644"/>
                  </a:lnTo>
                  <a:lnTo>
                    <a:pt x="332443" y="11094"/>
                  </a:lnTo>
                  <a:lnTo>
                    <a:pt x="340518" y="13543"/>
                  </a:lnTo>
                  <a:lnTo>
                    <a:pt x="348453" y="16383"/>
                  </a:lnTo>
                  <a:lnTo>
                    <a:pt x="356249" y="19612"/>
                  </a:lnTo>
                  <a:lnTo>
                    <a:pt x="364046" y="22841"/>
                  </a:lnTo>
                  <a:lnTo>
                    <a:pt x="400794" y="43422"/>
                  </a:lnTo>
                  <a:lnTo>
                    <a:pt x="407810" y="48110"/>
                  </a:lnTo>
                  <a:lnTo>
                    <a:pt x="439838" y="75464"/>
                  </a:lnTo>
                  <a:lnTo>
                    <a:pt x="456818" y="94199"/>
                  </a:lnTo>
                  <a:lnTo>
                    <a:pt x="462171" y="100721"/>
                  </a:lnTo>
                  <a:lnTo>
                    <a:pt x="467192" y="107491"/>
                  </a:lnTo>
                  <a:lnTo>
                    <a:pt x="471880" y="114507"/>
                  </a:lnTo>
                  <a:lnTo>
                    <a:pt x="476568" y="121524"/>
                  </a:lnTo>
                  <a:lnTo>
                    <a:pt x="495689" y="159052"/>
                  </a:lnTo>
                  <a:lnTo>
                    <a:pt x="498919" y="166848"/>
                  </a:lnTo>
                  <a:lnTo>
                    <a:pt x="510351" y="207385"/>
                  </a:lnTo>
                  <a:lnTo>
                    <a:pt x="511997" y="215662"/>
                  </a:lnTo>
                  <a:lnTo>
                    <a:pt x="513234" y="223999"/>
                  </a:lnTo>
                  <a:lnTo>
                    <a:pt x="514061" y="232396"/>
                  </a:lnTo>
                  <a:lnTo>
                    <a:pt x="514888" y="240794"/>
                  </a:lnTo>
                  <a:lnTo>
                    <a:pt x="515302" y="249212"/>
                  </a:lnTo>
                  <a:lnTo>
                    <a:pt x="515302" y="257651"/>
                  </a:lnTo>
                  <a:close/>
                </a:path>
                <a:path w="515620" h="515619">
                  <a:moveTo>
                    <a:pt x="257651" y="0"/>
                  </a:moveTo>
                  <a:lnTo>
                    <a:pt x="257651" y="515302"/>
                  </a:lnTo>
                </a:path>
                <a:path w="515620" h="515619">
                  <a:moveTo>
                    <a:pt x="0" y="257651"/>
                  </a:moveTo>
                  <a:lnTo>
                    <a:pt x="515302" y="257651"/>
                  </a:lnTo>
                </a:path>
              </a:pathLst>
            </a:custGeom>
            <a:ln w="12882">
              <a:solidFill>
                <a:srgbClr val="FABE2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0068" y="2812137"/>
              <a:ext cx="128825" cy="128825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3948112" y="1766887"/>
            <a:ext cx="2847975" cy="2314575"/>
          </a:xfrm>
          <a:prstGeom prst="rect">
            <a:avLst/>
          </a:prstGeom>
          <a:ln w="9524">
            <a:solidFill>
              <a:srgbClr val="3B81F5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solidFill>
                  <a:srgbClr val="FABE24"/>
                </a:solidFill>
                <a:latin typeface="Consolas"/>
                <a:cs typeface="Consolas"/>
              </a:rPr>
              <a:t>GUIDANCE</a:t>
            </a:r>
            <a:r>
              <a:rPr dirty="0" sz="1800" spc="-215">
                <a:solidFill>
                  <a:srgbClr val="FABE24"/>
                </a:solidFill>
                <a:latin typeface="Consolas"/>
                <a:cs typeface="Consolas"/>
              </a:rPr>
              <a:t>  </a:t>
            </a:r>
            <a:r>
              <a:rPr dirty="0" sz="1800" spc="-10">
                <a:solidFill>
                  <a:srgbClr val="FABE24"/>
                </a:solidFill>
                <a:latin typeface="Consolas"/>
                <a:cs typeface="Consolas"/>
              </a:rPr>
              <a:t>SYSTEM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650">
              <a:latin typeface="Consolas"/>
              <a:cs typeface="Consolas"/>
            </a:endParaRPr>
          </a:p>
          <a:p>
            <a:pPr marL="132715">
              <a:lnSpc>
                <a:spcPct val="100000"/>
              </a:lnSpc>
            </a:pPr>
            <a:r>
              <a:rPr dirty="0" sz="950" spc="-60">
                <a:solidFill>
                  <a:srgbClr val="9CA2AF"/>
                </a:solidFill>
                <a:latin typeface="Trebuchet MS"/>
                <a:cs typeface="Trebuchet MS"/>
              </a:rPr>
              <a:t>Fig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60">
                <a:solidFill>
                  <a:srgbClr val="9CA2AF"/>
                </a:solidFill>
                <a:latin typeface="Trebuchet MS"/>
                <a:cs typeface="Trebuchet MS"/>
              </a:rPr>
              <a:t>1.2: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65">
                <a:solidFill>
                  <a:srgbClr val="9CA2AF"/>
                </a:solidFill>
                <a:latin typeface="Trebuchet MS"/>
                <a:cs typeface="Trebuchet MS"/>
              </a:rPr>
              <a:t>Inertial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50">
                <a:solidFill>
                  <a:srgbClr val="9CA2AF"/>
                </a:solidFill>
                <a:latin typeface="Trebuchet MS"/>
                <a:cs typeface="Trebuchet MS"/>
              </a:rPr>
              <a:t>Measurement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0">
                <a:solidFill>
                  <a:srgbClr val="9CA2AF"/>
                </a:solidFill>
                <a:latin typeface="Trebuchet MS"/>
                <a:cs typeface="Trebuchet MS"/>
              </a:rPr>
              <a:t>Unit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714374" y="4714871"/>
            <a:ext cx="2981325" cy="2124075"/>
            <a:chOff x="714374" y="4714871"/>
            <a:chExt cx="2981325" cy="2124075"/>
          </a:xfrm>
        </p:grpSpPr>
        <p:sp>
          <p:nvSpPr>
            <p:cNvPr id="33" name="object 33" descr=""/>
            <p:cNvSpPr/>
            <p:nvPr/>
          </p:nvSpPr>
          <p:spPr>
            <a:xfrm>
              <a:off x="714374" y="4714871"/>
              <a:ext cx="2981325" cy="2124075"/>
            </a:xfrm>
            <a:custGeom>
              <a:avLst/>
              <a:gdLst/>
              <a:ahLst/>
              <a:cxnLst/>
              <a:rect l="l" t="t" r="r" b="b"/>
              <a:pathLst>
                <a:path w="2981325" h="2124075">
                  <a:moveTo>
                    <a:pt x="2981324" y="2124074"/>
                  </a:moveTo>
                  <a:lnTo>
                    <a:pt x="0" y="2124074"/>
                  </a:lnTo>
                  <a:lnTo>
                    <a:pt x="0" y="0"/>
                  </a:lnTo>
                  <a:lnTo>
                    <a:pt x="2981324" y="0"/>
                  </a:lnTo>
                  <a:lnTo>
                    <a:pt x="2981324" y="2124074"/>
                  </a:lnTo>
                  <a:close/>
                </a:path>
              </a:pathLst>
            </a:custGeom>
            <a:solidFill>
              <a:srgbClr val="3B81F5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19137" y="4719634"/>
              <a:ext cx="2971800" cy="2114550"/>
            </a:xfrm>
            <a:custGeom>
              <a:avLst/>
              <a:gdLst/>
              <a:ahLst/>
              <a:cxnLst/>
              <a:rect l="l" t="t" r="r" b="b"/>
              <a:pathLst>
                <a:path w="2971800" h="2114550">
                  <a:moveTo>
                    <a:pt x="0" y="0"/>
                  </a:moveTo>
                  <a:lnTo>
                    <a:pt x="2971799" y="0"/>
                  </a:lnTo>
                  <a:lnTo>
                    <a:pt x="2971799" y="2114549"/>
                  </a:lnTo>
                  <a:lnTo>
                    <a:pt x="0" y="21145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687353" y="5628798"/>
              <a:ext cx="1030605" cy="515620"/>
            </a:xfrm>
            <a:custGeom>
              <a:avLst/>
              <a:gdLst/>
              <a:ahLst/>
              <a:cxnLst/>
              <a:rect l="l" t="t" r="r" b="b"/>
              <a:pathLst>
                <a:path w="1030605" h="515620">
                  <a:moveTo>
                    <a:pt x="0" y="0"/>
                  </a:moveTo>
                  <a:lnTo>
                    <a:pt x="1030604" y="0"/>
                  </a:lnTo>
                  <a:lnTo>
                    <a:pt x="772953" y="515302"/>
                  </a:lnTo>
                  <a:lnTo>
                    <a:pt x="257651" y="515302"/>
                  </a:lnTo>
                  <a:lnTo>
                    <a:pt x="0" y="0"/>
                  </a:lnTo>
                  <a:close/>
                </a:path>
              </a:pathLst>
            </a:custGeom>
            <a:ln w="12882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067772" y="5751600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10" h="270510">
                  <a:moveTo>
                    <a:pt x="246389" y="211422"/>
                  </a:moveTo>
                  <a:lnTo>
                    <a:pt x="235770" y="204129"/>
                  </a:lnTo>
                  <a:lnTo>
                    <a:pt x="240404" y="197381"/>
                  </a:lnTo>
                  <a:lnTo>
                    <a:pt x="244321" y="190240"/>
                  </a:lnTo>
                  <a:lnTo>
                    <a:pt x="247522" y="182706"/>
                  </a:lnTo>
                  <a:lnTo>
                    <a:pt x="259379" y="187744"/>
                  </a:lnTo>
                  <a:lnTo>
                    <a:pt x="256577" y="193908"/>
                  </a:lnTo>
                  <a:lnTo>
                    <a:pt x="253478" y="199909"/>
                  </a:lnTo>
                  <a:lnTo>
                    <a:pt x="250082" y="205747"/>
                  </a:lnTo>
                  <a:lnTo>
                    <a:pt x="246389" y="211422"/>
                  </a:lnTo>
                  <a:close/>
                </a:path>
                <a:path w="270510" h="270510">
                  <a:moveTo>
                    <a:pt x="206965" y="249310"/>
                  </a:moveTo>
                  <a:lnTo>
                    <a:pt x="200100" y="238409"/>
                  </a:lnTo>
                  <a:lnTo>
                    <a:pt x="207142" y="233974"/>
                  </a:lnTo>
                  <a:lnTo>
                    <a:pt x="213665" y="228873"/>
                  </a:lnTo>
                  <a:lnTo>
                    <a:pt x="219667" y="223108"/>
                  </a:lnTo>
                  <a:lnTo>
                    <a:pt x="228591" y="232398"/>
                  </a:lnTo>
                  <a:lnTo>
                    <a:pt x="223508" y="237040"/>
                  </a:lnTo>
                  <a:lnTo>
                    <a:pt x="218209" y="241405"/>
                  </a:lnTo>
                  <a:lnTo>
                    <a:pt x="212695" y="245496"/>
                  </a:lnTo>
                  <a:lnTo>
                    <a:pt x="206965" y="249310"/>
                  </a:lnTo>
                  <a:close/>
                </a:path>
                <a:path w="270510" h="270510">
                  <a:moveTo>
                    <a:pt x="155924" y="268469"/>
                  </a:moveTo>
                  <a:lnTo>
                    <a:pt x="153920" y="255743"/>
                  </a:lnTo>
                  <a:lnTo>
                    <a:pt x="162247" y="254432"/>
                  </a:lnTo>
                  <a:lnTo>
                    <a:pt x="170352" y="252284"/>
                  </a:lnTo>
                  <a:lnTo>
                    <a:pt x="178234" y="249298"/>
                  </a:lnTo>
                  <a:lnTo>
                    <a:pt x="182797" y="261345"/>
                  </a:lnTo>
                  <a:lnTo>
                    <a:pt x="176217" y="263647"/>
                  </a:lnTo>
                  <a:lnTo>
                    <a:pt x="169545" y="265601"/>
                  </a:lnTo>
                  <a:lnTo>
                    <a:pt x="162781" y="267209"/>
                  </a:lnTo>
                  <a:lnTo>
                    <a:pt x="155924" y="268469"/>
                  </a:lnTo>
                  <a:close/>
                </a:path>
                <a:path w="270510" h="270510">
                  <a:moveTo>
                    <a:pt x="129827" y="270021"/>
                  </a:moveTo>
                  <a:lnTo>
                    <a:pt x="123123" y="269604"/>
                  </a:lnTo>
                  <a:lnTo>
                    <a:pt x="116465" y="268857"/>
                  </a:lnTo>
                  <a:lnTo>
                    <a:pt x="109852" y="267780"/>
                  </a:lnTo>
                  <a:lnTo>
                    <a:pt x="103284" y="266373"/>
                  </a:lnTo>
                  <a:lnTo>
                    <a:pt x="106294" y="253847"/>
                  </a:lnTo>
                  <a:lnTo>
                    <a:pt x="114189" y="255744"/>
                  </a:lnTo>
                  <a:lnTo>
                    <a:pt x="122194" y="256844"/>
                  </a:lnTo>
                  <a:lnTo>
                    <a:pt x="130308" y="257148"/>
                  </a:lnTo>
                  <a:lnTo>
                    <a:pt x="129963" y="266373"/>
                  </a:lnTo>
                  <a:lnTo>
                    <a:pt x="129843" y="269604"/>
                  </a:lnTo>
                  <a:lnTo>
                    <a:pt x="129827" y="270021"/>
                  </a:lnTo>
                  <a:close/>
                </a:path>
                <a:path w="270510" h="270510">
                  <a:moveTo>
                    <a:pt x="77193" y="257197"/>
                  </a:moveTo>
                  <a:lnTo>
                    <a:pt x="71111" y="254141"/>
                  </a:lnTo>
                  <a:lnTo>
                    <a:pt x="65206" y="250791"/>
                  </a:lnTo>
                  <a:lnTo>
                    <a:pt x="59477" y="247149"/>
                  </a:lnTo>
                  <a:lnTo>
                    <a:pt x="53924" y="243213"/>
                  </a:lnTo>
                  <a:lnTo>
                    <a:pt x="61634" y="232892"/>
                  </a:lnTo>
                  <a:lnTo>
                    <a:pt x="68227" y="237818"/>
                  </a:lnTo>
                  <a:lnTo>
                    <a:pt x="75244" y="242035"/>
                  </a:lnTo>
                  <a:lnTo>
                    <a:pt x="82687" y="245545"/>
                  </a:lnTo>
                  <a:lnTo>
                    <a:pt x="77193" y="257197"/>
                  </a:lnTo>
                  <a:close/>
                </a:path>
                <a:path w="270510" h="270510">
                  <a:moveTo>
                    <a:pt x="33651" y="224567"/>
                  </a:moveTo>
                  <a:lnTo>
                    <a:pt x="29230" y="219317"/>
                  </a:lnTo>
                  <a:lnTo>
                    <a:pt x="25091" y="213863"/>
                  </a:lnTo>
                  <a:lnTo>
                    <a:pt x="21234" y="208206"/>
                  </a:lnTo>
                  <a:lnTo>
                    <a:pt x="17660" y="202346"/>
                  </a:lnTo>
                  <a:lnTo>
                    <a:pt x="28824" y="195918"/>
                  </a:lnTo>
                  <a:lnTo>
                    <a:pt x="32965" y="203110"/>
                  </a:lnTo>
                  <a:lnTo>
                    <a:pt x="37788" y="209811"/>
                  </a:lnTo>
                  <a:lnTo>
                    <a:pt x="43292" y="216022"/>
                  </a:lnTo>
                  <a:lnTo>
                    <a:pt x="33651" y="224567"/>
                  </a:lnTo>
                  <a:close/>
                </a:path>
                <a:path w="270510" h="270510">
                  <a:moveTo>
                    <a:pt x="6514" y="177492"/>
                  </a:moveTo>
                  <a:lnTo>
                    <a:pt x="4507" y="170898"/>
                  </a:lnTo>
                  <a:lnTo>
                    <a:pt x="2843" y="164227"/>
                  </a:lnTo>
                  <a:lnTo>
                    <a:pt x="1514" y="157429"/>
                  </a:lnTo>
                  <a:lnTo>
                    <a:pt x="543" y="150657"/>
                  </a:lnTo>
                  <a:lnTo>
                    <a:pt x="13337" y="149152"/>
                  </a:lnTo>
                  <a:lnTo>
                    <a:pt x="14311" y="157429"/>
                  </a:lnTo>
                  <a:lnTo>
                    <a:pt x="16112" y="165522"/>
                  </a:lnTo>
                  <a:lnTo>
                    <a:pt x="18739" y="173431"/>
                  </a:lnTo>
                  <a:lnTo>
                    <a:pt x="6514" y="177492"/>
                  </a:lnTo>
                  <a:close/>
                </a:path>
                <a:path w="270510" h="270510">
                  <a:moveTo>
                    <a:pt x="12845" y="125638"/>
                  </a:moveTo>
                  <a:lnTo>
                    <a:pt x="0" y="124669"/>
                  </a:lnTo>
                  <a:lnTo>
                    <a:pt x="681" y="117900"/>
                  </a:lnTo>
                  <a:lnTo>
                    <a:pt x="1699" y="111191"/>
                  </a:lnTo>
                  <a:lnTo>
                    <a:pt x="3054" y="104541"/>
                  </a:lnTo>
                  <a:lnTo>
                    <a:pt x="4745" y="97952"/>
                  </a:lnTo>
                  <a:lnTo>
                    <a:pt x="17139" y="101466"/>
                  </a:lnTo>
                  <a:lnTo>
                    <a:pt x="14896" y="109379"/>
                  </a:lnTo>
                  <a:lnTo>
                    <a:pt x="13464" y="117437"/>
                  </a:lnTo>
                  <a:lnTo>
                    <a:pt x="12919" y="124669"/>
                  </a:lnTo>
                  <a:lnTo>
                    <a:pt x="12845" y="125638"/>
                  </a:lnTo>
                  <a:close/>
                </a:path>
                <a:path w="270510" h="270510">
                  <a:moveTo>
                    <a:pt x="26312" y="78365"/>
                  </a:moveTo>
                  <a:lnTo>
                    <a:pt x="14884" y="72420"/>
                  </a:lnTo>
                  <a:lnTo>
                    <a:pt x="18191" y="66436"/>
                  </a:lnTo>
                  <a:lnTo>
                    <a:pt x="21786" y="60641"/>
                  </a:lnTo>
                  <a:lnTo>
                    <a:pt x="25670" y="55036"/>
                  </a:lnTo>
                  <a:lnTo>
                    <a:pt x="29843" y="49621"/>
                  </a:lnTo>
                  <a:lnTo>
                    <a:pt x="39847" y="57738"/>
                  </a:lnTo>
                  <a:lnTo>
                    <a:pt x="34639" y="64156"/>
                  </a:lnTo>
                  <a:lnTo>
                    <a:pt x="30127" y="71032"/>
                  </a:lnTo>
                  <a:lnTo>
                    <a:pt x="26312" y="78365"/>
                  </a:lnTo>
                  <a:close/>
                </a:path>
                <a:path w="270510" h="270510">
                  <a:moveTo>
                    <a:pt x="57446" y="40078"/>
                  </a:moveTo>
                  <a:lnTo>
                    <a:pt x="49295" y="30102"/>
                  </a:lnTo>
                  <a:lnTo>
                    <a:pt x="54698" y="25909"/>
                  </a:lnTo>
                  <a:lnTo>
                    <a:pt x="60291" y="22005"/>
                  </a:lnTo>
                  <a:lnTo>
                    <a:pt x="66076" y="18388"/>
                  </a:lnTo>
                  <a:lnTo>
                    <a:pt x="72050" y="15060"/>
                  </a:lnTo>
                  <a:lnTo>
                    <a:pt x="78034" y="26469"/>
                  </a:lnTo>
                  <a:lnTo>
                    <a:pt x="70712" y="30310"/>
                  </a:lnTo>
                  <a:lnTo>
                    <a:pt x="63849" y="34846"/>
                  </a:lnTo>
                  <a:lnTo>
                    <a:pt x="57446" y="40078"/>
                  </a:lnTo>
                  <a:close/>
                </a:path>
                <a:path w="270510" h="270510">
                  <a:moveTo>
                    <a:pt x="101089" y="17223"/>
                  </a:moveTo>
                  <a:lnTo>
                    <a:pt x="124261" y="0"/>
                  </a:lnTo>
                  <a:lnTo>
                    <a:pt x="125272" y="12842"/>
                  </a:lnTo>
                  <a:lnTo>
                    <a:pt x="117064" y="13489"/>
                  </a:lnTo>
                  <a:lnTo>
                    <a:pt x="109003" y="14949"/>
                  </a:lnTo>
                  <a:lnTo>
                    <a:pt x="101089" y="17223"/>
                  </a:lnTo>
                  <a:close/>
                </a:path>
                <a:path w="270510" h="270510">
                  <a:moveTo>
                    <a:pt x="173055" y="18570"/>
                  </a:moveTo>
                  <a:lnTo>
                    <a:pt x="165145" y="15973"/>
                  </a:lnTo>
                  <a:lnTo>
                    <a:pt x="157053" y="14202"/>
                  </a:lnTo>
                  <a:lnTo>
                    <a:pt x="148782" y="13256"/>
                  </a:lnTo>
                  <a:lnTo>
                    <a:pt x="150136" y="1412"/>
                  </a:lnTo>
                  <a:lnTo>
                    <a:pt x="150245" y="457"/>
                  </a:lnTo>
                  <a:lnTo>
                    <a:pt x="157064" y="1412"/>
                  </a:lnTo>
                  <a:lnTo>
                    <a:pt x="163809" y="2709"/>
                  </a:lnTo>
                  <a:lnTo>
                    <a:pt x="170478" y="4348"/>
                  </a:lnTo>
                  <a:lnTo>
                    <a:pt x="177073" y="6330"/>
                  </a:lnTo>
                  <a:lnTo>
                    <a:pt x="173055" y="18570"/>
                  </a:lnTo>
                  <a:close/>
                </a:path>
                <a:path w="270510" h="270510">
                  <a:moveTo>
                    <a:pt x="215741" y="42980"/>
                  </a:moveTo>
                  <a:lnTo>
                    <a:pt x="209513" y="37498"/>
                  </a:lnTo>
                  <a:lnTo>
                    <a:pt x="202797" y="32700"/>
                  </a:lnTo>
                  <a:lnTo>
                    <a:pt x="195593" y="28584"/>
                  </a:lnTo>
                  <a:lnTo>
                    <a:pt x="201984" y="17398"/>
                  </a:lnTo>
                  <a:lnTo>
                    <a:pt x="207854" y="20951"/>
                  </a:lnTo>
                  <a:lnTo>
                    <a:pt x="213522" y="24788"/>
                  </a:lnTo>
                  <a:lnTo>
                    <a:pt x="218988" y="28907"/>
                  </a:lnTo>
                  <a:lnTo>
                    <a:pt x="224252" y="33309"/>
                  </a:lnTo>
                  <a:lnTo>
                    <a:pt x="215741" y="42980"/>
                  </a:lnTo>
                  <a:close/>
                </a:path>
                <a:path w="270510" h="270510">
                  <a:moveTo>
                    <a:pt x="245404" y="82284"/>
                  </a:moveTo>
                  <a:lnTo>
                    <a:pt x="241868" y="74849"/>
                  </a:lnTo>
                  <a:lnTo>
                    <a:pt x="237625" y="67843"/>
                  </a:lnTo>
                  <a:lnTo>
                    <a:pt x="232675" y="61265"/>
                  </a:lnTo>
                  <a:lnTo>
                    <a:pt x="242969" y="53519"/>
                  </a:lnTo>
                  <a:lnTo>
                    <a:pt x="246926" y="59061"/>
                  </a:lnTo>
                  <a:lnTo>
                    <a:pt x="250589" y="64780"/>
                  </a:lnTo>
                  <a:lnTo>
                    <a:pt x="253960" y="70677"/>
                  </a:lnTo>
                  <a:lnTo>
                    <a:pt x="257037" y="76750"/>
                  </a:lnTo>
                  <a:lnTo>
                    <a:pt x="245404" y="82284"/>
                  </a:lnTo>
                  <a:close/>
                </a:path>
                <a:path w="270510" h="270510">
                  <a:moveTo>
                    <a:pt x="257166" y="129879"/>
                  </a:moveTo>
                  <a:lnTo>
                    <a:pt x="256872" y="122646"/>
                  </a:lnTo>
                  <a:lnTo>
                    <a:pt x="256836" y="121757"/>
                  </a:lnTo>
                  <a:lnTo>
                    <a:pt x="255708" y="113747"/>
                  </a:lnTo>
                  <a:lnTo>
                    <a:pt x="253782" y="105849"/>
                  </a:lnTo>
                  <a:lnTo>
                    <a:pt x="266297" y="102796"/>
                  </a:lnTo>
                  <a:lnTo>
                    <a:pt x="270038" y="129356"/>
                  </a:lnTo>
                  <a:lnTo>
                    <a:pt x="257166" y="129879"/>
                  </a:lnTo>
                  <a:close/>
                </a:path>
                <a:path w="270510" h="270510">
                  <a:moveTo>
                    <a:pt x="267566" y="161158"/>
                  </a:moveTo>
                  <a:lnTo>
                    <a:pt x="254930" y="158652"/>
                  </a:lnTo>
                  <a:lnTo>
                    <a:pt x="256488" y="150794"/>
                  </a:lnTo>
                  <a:lnTo>
                    <a:pt x="257267" y="142860"/>
                  </a:lnTo>
                  <a:lnTo>
                    <a:pt x="257267" y="134849"/>
                  </a:lnTo>
                  <a:lnTo>
                    <a:pt x="270150" y="134849"/>
                  </a:lnTo>
                  <a:lnTo>
                    <a:pt x="269988" y="141473"/>
                  </a:lnTo>
                  <a:lnTo>
                    <a:pt x="269504" y="148066"/>
                  </a:lnTo>
                  <a:lnTo>
                    <a:pt x="268697" y="154628"/>
                  </a:lnTo>
                  <a:lnTo>
                    <a:pt x="267566" y="161158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776287" y="4776787"/>
            <a:ext cx="2857500" cy="2000250"/>
          </a:xfrm>
          <a:prstGeom prst="rect">
            <a:avLst/>
          </a:prstGeom>
          <a:ln w="9524">
            <a:solidFill>
              <a:srgbClr val="3B81F5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solidFill>
                  <a:srgbClr val="EF4444"/>
                </a:solidFill>
                <a:latin typeface="Consolas"/>
                <a:cs typeface="Consolas"/>
              </a:rPr>
              <a:t>WARHEAD</a:t>
            </a:r>
            <a:r>
              <a:rPr dirty="0" sz="1800" spc="495">
                <a:solidFill>
                  <a:srgbClr val="EF4444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F4444"/>
                </a:solidFill>
                <a:latin typeface="Consolas"/>
                <a:cs typeface="Consolas"/>
              </a:rPr>
              <a:t>CONFIG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650">
              <a:latin typeface="Consolas"/>
              <a:cs typeface="Consolas"/>
            </a:endParaRPr>
          </a:p>
          <a:p>
            <a:pPr marL="137795">
              <a:lnSpc>
                <a:spcPct val="100000"/>
              </a:lnSpc>
            </a:pPr>
            <a:r>
              <a:rPr dirty="0" sz="950" spc="-60">
                <a:solidFill>
                  <a:srgbClr val="9CA2AF"/>
                </a:solidFill>
                <a:latin typeface="Trebuchet MS"/>
                <a:cs typeface="Trebuchet MS"/>
              </a:rPr>
              <a:t>Fig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50">
                <a:solidFill>
                  <a:srgbClr val="9CA2AF"/>
                </a:solidFill>
                <a:latin typeface="Trebuchet MS"/>
                <a:cs typeface="Trebuchet MS"/>
              </a:rPr>
              <a:t>1.3: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65">
                <a:solidFill>
                  <a:srgbClr val="9CA2AF"/>
                </a:solidFill>
                <a:latin typeface="Trebuchet MS"/>
                <a:cs typeface="Trebuchet MS"/>
              </a:rPr>
              <a:t>MIRV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60">
                <a:solidFill>
                  <a:srgbClr val="9CA2AF"/>
                </a:solidFill>
                <a:latin typeface="Trebuchet MS"/>
                <a:cs typeface="Trebuchet MS"/>
              </a:rPr>
              <a:t>Deployment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25">
                <a:solidFill>
                  <a:srgbClr val="9CA2AF"/>
                </a:solidFill>
                <a:latin typeface="Trebuchet MS"/>
                <a:cs typeface="Trebuchet MS"/>
              </a:rPr>
              <a:t>Bus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3886199" y="4714871"/>
            <a:ext cx="2971800" cy="2124075"/>
            <a:chOff x="3886199" y="4714871"/>
            <a:chExt cx="2971800" cy="2124075"/>
          </a:xfrm>
        </p:grpSpPr>
        <p:sp>
          <p:nvSpPr>
            <p:cNvPr id="39" name="object 39" descr=""/>
            <p:cNvSpPr/>
            <p:nvPr/>
          </p:nvSpPr>
          <p:spPr>
            <a:xfrm>
              <a:off x="3886199" y="4714871"/>
              <a:ext cx="2971800" cy="2124075"/>
            </a:xfrm>
            <a:custGeom>
              <a:avLst/>
              <a:gdLst/>
              <a:ahLst/>
              <a:cxnLst/>
              <a:rect l="l" t="t" r="r" b="b"/>
              <a:pathLst>
                <a:path w="2971800" h="2124075">
                  <a:moveTo>
                    <a:pt x="2971799" y="2124074"/>
                  </a:moveTo>
                  <a:lnTo>
                    <a:pt x="0" y="2124074"/>
                  </a:lnTo>
                  <a:lnTo>
                    <a:pt x="0" y="0"/>
                  </a:lnTo>
                  <a:lnTo>
                    <a:pt x="2971799" y="0"/>
                  </a:lnTo>
                  <a:lnTo>
                    <a:pt x="2971799" y="2124074"/>
                  </a:lnTo>
                  <a:close/>
                </a:path>
              </a:pathLst>
            </a:custGeom>
            <a:solidFill>
              <a:srgbClr val="3B81F5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890962" y="4719634"/>
              <a:ext cx="2962275" cy="2114550"/>
            </a:xfrm>
            <a:custGeom>
              <a:avLst/>
              <a:gdLst/>
              <a:ahLst/>
              <a:cxnLst/>
              <a:rect l="l" t="t" r="r" b="b"/>
              <a:pathLst>
                <a:path w="2962275" h="2114550">
                  <a:moveTo>
                    <a:pt x="0" y="0"/>
                  </a:moveTo>
                  <a:lnTo>
                    <a:pt x="2962274" y="0"/>
                  </a:lnTo>
                  <a:lnTo>
                    <a:pt x="2962274" y="2114549"/>
                  </a:lnTo>
                  <a:lnTo>
                    <a:pt x="0" y="21145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472701" y="5757624"/>
              <a:ext cx="1546225" cy="257810"/>
            </a:xfrm>
            <a:custGeom>
              <a:avLst/>
              <a:gdLst/>
              <a:ahLst/>
              <a:cxnLst/>
              <a:rect l="l" t="t" r="r" b="b"/>
              <a:pathLst>
                <a:path w="1546225" h="257810">
                  <a:moveTo>
                    <a:pt x="257651" y="0"/>
                  </a:moveTo>
                  <a:lnTo>
                    <a:pt x="1545907" y="0"/>
                  </a:lnTo>
                  <a:lnTo>
                    <a:pt x="1545907" y="257651"/>
                  </a:lnTo>
                  <a:lnTo>
                    <a:pt x="257651" y="257651"/>
                  </a:lnTo>
                  <a:lnTo>
                    <a:pt x="257651" y="0"/>
                  </a:lnTo>
                  <a:close/>
                </a:path>
                <a:path w="1546225" h="257810">
                  <a:moveTo>
                    <a:pt x="128825" y="0"/>
                  </a:moveTo>
                  <a:lnTo>
                    <a:pt x="257651" y="0"/>
                  </a:lnTo>
                  <a:lnTo>
                    <a:pt x="257651" y="257651"/>
                  </a:lnTo>
                  <a:lnTo>
                    <a:pt x="128825" y="257651"/>
                  </a:lnTo>
                  <a:lnTo>
                    <a:pt x="0" y="128825"/>
                  </a:lnTo>
                  <a:lnTo>
                    <a:pt x="128825" y="0"/>
                  </a:lnTo>
                  <a:close/>
                </a:path>
              </a:pathLst>
            </a:custGeom>
            <a:ln w="12882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3948112" y="4776787"/>
            <a:ext cx="2847975" cy="2000250"/>
          </a:xfrm>
          <a:prstGeom prst="rect">
            <a:avLst/>
          </a:prstGeom>
          <a:ln w="9524">
            <a:solidFill>
              <a:srgbClr val="3B81F5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1085"/>
              </a:spcBef>
            </a:pPr>
            <a:r>
              <a:rPr dirty="0" sz="1800" spc="-10">
                <a:solidFill>
                  <a:srgbClr val="3B81F5"/>
                </a:solidFill>
                <a:latin typeface="Consolas"/>
                <a:cs typeface="Consolas"/>
              </a:rPr>
              <a:t>PROPULSION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650">
              <a:latin typeface="Consolas"/>
              <a:cs typeface="Consolas"/>
            </a:endParaRPr>
          </a:p>
          <a:p>
            <a:pPr marL="132715">
              <a:lnSpc>
                <a:spcPct val="100000"/>
              </a:lnSpc>
            </a:pPr>
            <a:r>
              <a:rPr dirty="0" sz="950" spc="-60">
                <a:solidFill>
                  <a:srgbClr val="9CA2AF"/>
                </a:solidFill>
                <a:latin typeface="Trebuchet MS"/>
                <a:cs typeface="Trebuchet MS"/>
              </a:rPr>
              <a:t>Fig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150">
                <a:solidFill>
                  <a:srgbClr val="9CA2AF"/>
                </a:solidFill>
                <a:latin typeface="Trebuchet MS"/>
                <a:cs typeface="Trebuchet MS"/>
              </a:rPr>
              <a:t>1.4:</a:t>
            </a:r>
            <a:r>
              <a:rPr dirty="0" sz="950" spc="-15">
                <a:solidFill>
                  <a:srgbClr val="9CA2AF"/>
                </a:solidFill>
                <a:latin typeface="Trebuchet MS"/>
                <a:cs typeface="Trebuchet MS"/>
              </a:rPr>
              <a:t> </a:t>
            </a:r>
            <a:r>
              <a:rPr dirty="0" sz="950" spc="-65">
                <a:solidFill>
                  <a:srgbClr val="9CA2AF"/>
                </a:solidFill>
                <a:latin typeface="Trebuchet MS"/>
                <a:cs typeface="Trebuchet MS"/>
              </a:rPr>
              <a:t>Scramjet</a:t>
            </a:r>
            <a:r>
              <a:rPr dirty="0" sz="950" spc="-10">
                <a:solidFill>
                  <a:srgbClr val="9CA2AF"/>
                </a:solidFill>
                <a:latin typeface="Trebuchet MS"/>
                <a:cs typeface="Trebuchet MS"/>
              </a:rPr>
              <a:t> Intake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6953237" y="7696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190500"/>
                </a:lnTo>
                <a:lnTo>
                  <a:pt x="171450" y="190500"/>
                </a:lnTo>
                <a:lnTo>
                  <a:pt x="190500" y="190500"/>
                </a:lnTo>
                <a:lnTo>
                  <a:pt x="190500" y="171450"/>
                </a:lnTo>
                <a:lnTo>
                  <a:pt x="190500" y="0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TRIDENT - CLASSIFIED</dc:title>
  <dcterms:created xsi:type="dcterms:W3CDTF">2026-02-07T02:50:23Z</dcterms:created>
  <dcterms:modified xsi:type="dcterms:W3CDTF">2026-02-07T02:50:23Z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2026-02-07T00:00:00Z</vt:filetime>
  </property>
  <property fmtid="{D5CDD505-2E9C-101B-9397-08002B2CF9AE}" pid="3" name="Creator">
    <vt:lpwstr>Mozilla/5.0 (X11; Linux x86_64) AppleWebKit/537.36 (KHTML, like Gecko) HeadlessChrome/145.0.0.0 Safari/537.36</vt:lpwstr>
  </property>
  <property fmtid="{D5CDD505-2E9C-101B-9397-08002B2CF9AE}" pid="4" name="LastSaved">
    <vt:filetime>2026-02-07T00:00:00Z</vt:filetime>
  </property>
  <property fmtid="{D5CDD505-2E9C-101B-9397-08002B2CF9AE}" pid="5" name="Producer">
    <vt:lpwstr>Skia/PDF m145</vt:lpwstr>
  </property>
</Properties>
</file>